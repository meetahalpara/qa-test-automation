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Professor Datta and classmates. Today Devangbhai and I are presenting our complete Quality Assurance project for SauceDemo, covering our end-to-end journey across Phase 1 Proposal, Phase 2 Manual Testing, and Phase 3 Automated Testing.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shows our 3-phase journey. In Phase 1 we mapped requirements, in Phase 2 we manually found defects, and in Phase 3 we turned those manual tests into a fully automated CI/CD pipeline running in under 2 minutes.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Project I, we thoroughly analyzed SauceDemo and established 14 functional requirements covering the end-to-end e-commerce purchasing workflow from authentication to order confirmation.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Project II, we manually executed all 14 test cases. While manual testing allowed us to explore the UI, it required 18 full minutes of active human interaction for a single test cycle.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testing uncovered 2 key application defects: D-01, where an empty cart can proceed to checkout, and D-02, where checkout forms accept single-character inputs. These formed our baseline for Phase 3 automation.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Project III, we selected Python, Selenium WebDriver, Pytest, and Robot Framework. This dual-framework approach gave us both code-based Page Object Model testing and business-readable keyword testing.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Selenium architecture follows the Page Object Model strictly. Locators are isolated inside Page classes. If an HTML ID changes tomorrow, we update one line in the Page class and zero test files break.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automated all 14 functional test cases plus negative parameterizations and a full E2E workflow. Both our Selenium and Robot Framework test suites achieved a 100% pass rate across 36 test runs.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Comparing manual vs automated testing shows an 89.8% time reduction. What took 18 minutes manually now runs automatically in under 2 minutes with zero human effort.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Transitioning to automation revealed technical DOM quirks. We resolved React virtual DOM stale element issues and controlled input state desynchronization using custom JavaScript helpers.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integrated our automation suite into both Jenkins and GitHub Actions. Every time code is pushed to GitHub, our full regression suite executes automatically and publishes test artifacts.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will perform our mandatory live demo. First, we will run our tests in headed mode so you can watch Chrome perform actions live. Then we will show our unified runner and interactive HTML test reports.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ROI of our automation is clear: 9.8x faster regression testing, 100% repeatability, and immediate CI/CD feedback. We recommend SauceDemo developers fix defects D-01 and D-02 in upcoming releases.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Professor Datta and class for your attention. All project code, documents, and reports are published on our GitHub repository. We are now happy to answer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914400"/>
            <a:ext cx="10362895" cy="5029200"/>
          </a:xfrm>
          <a:prstGeom prst="roundRect">
            <a:avLst/>
          </a:prstGeom>
          <a:solidFill>
            <a:srgbClr val="FFFFFF"/>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188720"/>
            <a:ext cx="9448495" cy="4389120"/>
          </a:xfrm>
          <a:prstGeom prst="rect">
            <a:avLst/>
          </a:prstGeom>
          <a:noFill/>
        </p:spPr>
        <p:txBody>
          <a:bodyPr wrap="square">
            <a:spAutoFit/>
          </a:bodyPr>
          <a:lstStyle/>
          <a:p>
            <a:pPr algn="ctr">
              <a:defRPr sz="1400" b="1">
                <a:solidFill>
                  <a:srgbClr val="008080"/>
                </a:solidFill>
              </a:defRPr>
            </a:pPr>
            <a:r>
              <a:t>CST8513: QUALITY ASSURANCE &amp; TESTING</a:t>
            </a:r>
          </a:p>
          <a:p>
            <a:pPr algn="ctr">
              <a:defRPr sz="3200" b="1">
                <a:solidFill>
                  <a:srgbClr val="003366"/>
                </a:solidFill>
              </a:defRPr>
            </a:pPr>
            <a:r>
              <a:t>SauceDemo Test Automation Project</a:t>
            </a:r>
          </a:p>
          <a:p>
            <a:pPr algn="ctr">
              <a:defRPr sz="1600" i="1">
                <a:solidFill>
                  <a:srgbClr val="222222"/>
                </a:solidFill>
              </a:defRPr>
            </a:pPr>
            <a:r>
              <a:t>Comprehensive Synthesis of Project I, Project II &amp; Project III (Automation &amp; CI/CD)</a:t>
            </a:r>
          </a:p>
          <a:p>
            <a:br/>
            <a:pPr algn="ctr">
              <a:defRPr sz="1200">
                <a:solidFill>
                  <a:srgbClr val="505050"/>
                </a:solidFill>
              </a:defRPr>
            </a:pPr>
            <a:r>
              <a:t>Presented By: Devangbhai Pandit &amp; Meet Ahalpara</a:t>
            </a:r>
            <a:br/>
            <a:r>
              <a:t>Submitted To: Prof. Sharmista Datta</a:t>
            </a:r>
            <a:br/>
            <a:r>
              <a:t>Algonquin College – School of Advanced Technology</a:t>
            </a:r>
            <a:br/>
            <a:r>
              <a:t>Presentation Date: August 13, 2026</a:t>
            </a:r>
            <a:br/>
            <a:r>
              <a:t>GitHub Repo: https://github.com/MeetAhalpara/QA-Test-Automation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Executive Summary &amp; Project Progression</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2 of 14</a:t>
            </a:r>
          </a:p>
        </p:txBody>
      </p:sp>
      <p:sp>
        <p:nvSpPr>
          <p:cNvPr id="6" name="Rounded Rectangle 5"/>
          <p:cNvSpPr/>
          <p:nvPr/>
        </p:nvSpPr>
        <p:spPr>
          <a:xfrm>
            <a:off x="731520" y="1371600"/>
            <a:ext cx="3383280" cy="4846320"/>
          </a:xfrm>
          <a:prstGeom prst="roundRect">
            <a:avLst/>
          </a:prstGeom>
          <a:solidFill>
            <a:srgbClr val="F4F6F9"/>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463040"/>
            <a:ext cx="3108960" cy="4663440"/>
          </a:xfrm>
          <a:prstGeom prst="rect">
            <a:avLst/>
          </a:prstGeom>
          <a:noFill/>
        </p:spPr>
        <p:txBody>
          <a:bodyPr wrap="square">
            <a:spAutoFit/>
          </a:bodyPr>
          <a:lstStyle/>
          <a:p>
            <a:pPr>
              <a:defRPr sz="1200" b="1">
                <a:solidFill>
                  <a:srgbClr val="003366"/>
                </a:solidFill>
              </a:defRPr>
            </a:pPr>
            <a:r>
              <a:t>PROJECT I: SCOPE &amp; PROPOSAL</a:t>
            </a:r>
          </a:p>
          <a:p>
            <a:pPr>
              <a:defRPr sz="1000" i="1">
                <a:solidFill>
                  <a:srgbClr val="646464"/>
                </a:solidFill>
              </a:defRPr>
            </a:pPr>
            <a:r>
              <a:t>Requirements Analysis</a:t>
            </a:r>
          </a:p>
          <a:p>
            <a:pPr>
              <a:defRPr sz="1000">
                <a:solidFill>
                  <a:srgbClr val="222222"/>
                </a:solidFill>
              </a:defRPr>
            </a:pPr>
            <a:r>
              <a:t>• Analyzed SauceDemo e-commerce architecture &amp; business flows.</a:t>
            </a:r>
          </a:p>
          <a:p>
            <a:pPr>
              <a:defRPr sz="1000">
                <a:solidFill>
                  <a:srgbClr val="222222"/>
                </a:solidFill>
              </a:defRPr>
            </a:pPr>
            <a:r>
              <a:t>• Defined 14 Core Functional Requirements (FR-01 to FR-14).</a:t>
            </a:r>
          </a:p>
          <a:p>
            <a:pPr>
              <a:defRPr sz="1000">
                <a:solidFill>
                  <a:srgbClr val="222222"/>
                </a:solidFill>
              </a:defRPr>
            </a:pPr>
            <a:r>
              <a:t>• Covered Auth, Browsing, Sorting, Cart, Checkout Math, &amp; Logout.</a:t>
            </a:r>
          </a:p>
        </p:txBody>
      </p:sp>
      <p:sp>
        <p:nvSpPr>
          <p:cNvPr id="8" name="Rounded Rectangle 7"/>
          <p:cNvSpPr/>
          <p:nvPr/>
        </p:nvSpPr>
        <p:spPr>
          <a:xfrm>
            <a:off x="4389120" y="1371600"/>
            <a:ext cx="3383280" cy="4846320"/>
          </a:xfrm>
          <a:prstGeom prst="roundRect">
            <a:avLst/>
          </a:prstGeom>
          <a:solidFill>
            <a:srgbClr val="F4F6F9"/>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1463040"/>
            <a:ext cx="3108960" cy="4663440"/>
          </a:xfrm>
          <a:prstGeom prst="rect">
            <a:avLst/>
          </a:prstGeom>
          <a:noFill/>
        </p:spPr>
        <p:txBody>
          <a:bodyPr wrap="square">
            <a:spAutoFit/>
          </a:bodyPr>
          <a:lstStyle/>
          <a:p>
            <a:pPr>
              <a:defRPr sz="1200" b="1">
                <a:solidFill>
                  <a:srgbClr val="008080"/>
                </a:solidFill>
              </a:defRPr>
            </a:pPr>
            <a:r>
              <a:t>PROJECT II: MANUAL TESTING</a:t>
            </a:r>
          </a:p>
          <a:p>
            <a:pPr>
              <a:defRPr sz="1000" i="1">
                <a:solidFill>
                  <a:srgbClr val="646464"/>
                </a:solidFill>
              </a:defRPr>
            </a:pPr>
            <a:r>
              <a:t>Test Execution &amp; Defects</a:t>
            </a:r>
          </a:p>
          <a:p>
            <a:pPr>
              <a:defRPr sz="1000">
                <a:solidFill>
                  <a:srgbClr val="222222"/>
                </a:solidFill>
              </a:defRPr>
            </a:pPr>
            <a:r>
              <a:t>• Executed 14 manual test cases (TC-01 to TC-14) in Chrome.</a:t>
            </a:r>
          </a:p>
          <a:p>
            <a:pPr>
              <a:defRPr sz="1000">
                <a:solidFill>
                  <a:srgbClr val="222222"/>
                </a:solidFill>
              </a:defRPr>
            </a:pPr>
            <a:r>
              <a:t>• Achieved 85.7% Manual Pass Rate (12 Passed, 2 Failed).</a:t>
            </a:r>
          </a:p>
          <a:p>
            <a:pPr>
              <a:defRPr sz="1000">
                <a:solidFill>
                  <a:srgbClr val="222222"/>
                </a:solidFill>
              </a:defRPr>
            </a:pPr>
            <a:r>
              <a:t>• Logged 2 Defects: D-01 (Empty Cart Checkout) &amp; D-02 (Weak Input Rules).</a:t>
            </a:r>
          </a:p>
        </p:txBody>
      </p:sp>
      <p:sp>
        <p:nvSpPr>
          <p:cNvPr id="10" name="Rounded Rectangle 9"/>
          <p:cNvSpPr/>
          <p:nvPr/>
        </p:nvSpPr>
        <p:spPr>
          <a:xfrm>
            <a:off x="8046720" y="1371600"/>
            <a:ext cx="3383280" cy="4846320"/>
          </a:xfrm>
          <a:prstGeom prst="roundRect">
            <a:avLst/>
          </a:prstGeom>
          <a:solidFill>
            <a:srgbClr val="F4F6F9"/>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80" y="1463040"/>
            <a:ext cx="3108960" cy="4663440"/>
          </a:xfrm>
          <a:prstGeom prst="rect">
            <a:avLst/>
          </a:prstGeom>
          <a:noFill/>
        </p:spPr>
        <p:txBody>
          <a:bodyPr wrap="square">
            <a:spAutoFit/>
          </a:bodyPr>
          <a:lstStyle/>
          <a:p>
            <a:pPr>
              <a:defRPr sz="1200" b="1">
                <a:solidFill>
                  <a:srgbClr val="003366"/>
                </a:solidFill>
              </a:defRPr>
            </a:pPr>
            <a:r>
              <a:t>PROJECT III: AUTOMATION &amp; CI/CD</a:t>
            </a:r>
          </a:p>
          <a:p>
            <a:pPr>
              <a:defRPr sz="1000" i="1">
                <a:solidFill>
                  <a:srgbClr val="646464"/>
                </a:solidFill>
              </a:defRPr>
            </a:pPr>
            <a:r>
              <a:t>POM Framework &amp; CI/CD</a:t>
            </a:r>
          </a:p>
          <a:p>
            <a:pPr>
              <a:defRPr sz="1000">
                <a:solidFill>
                  <a:srgbClr val="222222"/>
                </a:solidFill>
              </a:defRPr>
            </a:pPr>
            <a:r>
              <a:t>• Automated 100% of test cases using Selenium WebDriver (POM) &amp; Robot.</a:t>
            </a:r>
          </a:p>
          <a:p>
            <a:pPr>
              <a:defRPr sz="1000">
                <a:solidFill>
                  <a:srgbClr val="222222"/>
                </a:solidFill>
              </a:defRPr>
            </a:pPr>
            <a:r>
              <a:t>• 100% Pass Rate across 36 test scenarios (22 Selenium + 14 Robot).</a:t>
            </a:r>
          </a:p>
          <a:p>
            <a:pPr>
              <a:defRPr sz="1000">
                <a:solidFill>
                  <a:srgbClr val="222222"/>
                </a:solidFill>
              </a:defRPr>
            </a:pPr>
            <a:r>
              <a:t>• Reduced regression time by 89.8% (18 mins -&gt; 1 min 50s).</a:t>
            </a:r>
          </a:p>
          <a:p>
            <a:pPr>
              <a:defRPr sz="1000">
                <a:solidFill>
                  <a:srgbClr val="222222"/>
                </a:solidFill>
              </a:defRPr>
            </a:pPr>
            <a:r>
              <a:t>• CI/CD Pipeline set up with Jenkins &amp; GitHub Actions.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Project I Summary: Application Analysis &amp; Requirements Scope</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3 of 14</a:t>
            </a:r>
          </a:p>
        </p:txBody>
      </p:sp>
      <p:sp>
        <p:nvSpPr>
          <p:cNvPr id="6" name="Rounded Rectangle 5"/>
          <p:cNvSpPr/>
          <p:nvPr/>
        </p:nvSpPr>
        <p:spPr>
          <a:xfrm>
            <a:off x="731520" y="1371600"/>
            <a:ext cx="5120640" cy="4846320"/>
          </a:xfrm>
          <a:prstGeom prst="roundRect">
            <a:avLst/>
          </a:prstGeom>
          <a:solidFill>
            <a:srgbClr val="F4F6F9"/>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754880" cy="4480560"/>
          </a:xfrm>
          <a:prstGeom prst="rect">
            <a:avLst/>
          </a:prstGeom>
          <a:noFill/>
        </p:spPr>
        <p:txBody>
          <a:bodyPr wrap="square">
            <a:spAutoFit/>
          </a:bodyPr>
          <a:lstStyle/>
          <a:p>
            <a:pPr>
              <a:defRPr sz="1300" b="1">
                <a:solidFill>
                  <a:srgbClr val="003366"/>
                </a:solidFill>
              </a:defRPr>
            </a:pPr>
            <a:r>
              <a:t>Target Application &amp; Core Requirements (FR-01 to FR-07)</a:t>
            </a:r>
          </a:p>
          <a:p>
            <a:pPr>
              <a:defRPr sz="1000">
                <a:solidFill>
                  <a:srgbClr val="222222"/>
                </a:solidFill>
              </a:defRPr>
            </a:pPr>
            <a:r>
              <a:t>• FR-01: System authenticates standard_user and redirects to /inventory.html.</a:t>
            </a:r>
          </a:p>
          <a:p>
            <a:pPr>
              <a:defRPr sz="1000">
                <a:solidFill>
                  <a:srgbClr val="222222"/>
                </a:solidFill>
              </a:defRPr>
            </a:pPr>
            <a:r>
              <a:t>• FR-02: Displays specific error messages on invalid/locked credentials.</a:t>
            </a:r>
          </a:p>
          <a:p>
            <a:pPr>
              <a:defRPr sz="1000">
                <a:solidFill>
                  <a:srgbClr val="222222"/>
                </a:solidFill>
              </a:defRPr>
            </a:pPr>
            <a:r>
              <a:t>• FR-03: Renders all 6 product catalog items with titles, prices, &amp; images.</a:t>
            </a:r>
          </a:p>
          <a:p>
            <a:pPr>
              <a:defRPr sz="1000">
                <a:solidFill>
                  <a:srgbClr val="222222"/>
                </a:solidFill>
              </a:defRPr>
            </a:pPr>
            <a:r>
              <a:t>• FR-04: Dynamic 4-way product sorting (A-Z, Z-A, Price Low-High, High-Low).</a:t>
            </a:r>
          </a:p>
          <a:p>
            <a:pPr>
              <a:defRPr sz="1000">
                <a:solidFill>
                  <a:srgbClr val="222222"/>
                </a:solidFill>
              </a:defRPr>
            </a:pPr>
            <a:r>
              <a:t>• FR-05: Product details page opens specs, $29.99 price, &amp; back navigation.</a:t>
            </a:r>
          </a:p>
          <a:p>
            <a:pPr>
              <a:defRPr sz="1000">
                <a:solidFill>
                  <a:srgbClr val="222222"/>
                </a:solidFill>
              </a:defRPr>
            </a:pPr>
            <a:r>
              <a:t>• FR-06: Add to Cart increments shopping cart badge count dynamically.</a:t>
            </a:r>
          </a:p>
          <a:p>
            <a:pPr>
              <a:defRPr sz="1000">
                <a:solidFill>
                  <a:srgbClr val="222222"/>
                </a:solidFill>
              </a:defRPr>
            </a:pPr>
            <a:r>
              <a:t>• FR-07: Remove from Cart decrements shopping cart badge count.</a:t>
            </a:r>
          </a:p>
        </p:txBody>
      </p:sp>
      <p:sp>
        <p:nvSpPr>
          <p:cNvPr id="8" name="Rounded Rectangle 7"/>
          <p:cNvSpPr/>
          <p:nvPr/>
        </p:nvSpPr>
        <p:spPr>
          <a:xfrm>
            <a:off x="6217920" y="1371600"/>
            <a:ext cx="5120640" cy="4846320"/>
          </a:xfrm>
          <a:prstGeom prst="roundRect">
            <a:avLst/>
          </a:prstGeom>
          <a:solidFill>
            <a:srgbClr val="F4F6F9"/>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754880" cy="4480560"/>
          </a:xfrm>
          <a:prstGeom prst="rect">
            <a:avLst/>
          </a:prstGeom>
          <a:noFill/>
        </p:spPr>
        <p:txBody>
          <a:bodyPr wrap="square">
            <a:spAutoFit/>
          </a:bodyPr>
          <a:lstStyle/>
          <a:p>
            <a:pPr>
              <a:defRPr sz="1300" b="1">
                <a:solidFill>
                  <a:srgbClr val="008080"/>
                </a:solidFill>
              </a:defRPr>
            </a:pPr>
            <a:r>
              <a:t>Core Requirements Continued (FR-08 to FR-14)</a:t>
            </a:r>
          </a:p>
          <a:p>
            <a:pPr>
              <a:defRPr sz="1000">
                <a:solidFill>
                  <a:srgbClr val="222222"/>
                </a:solidFill>
              </a:defRPr>
            </a:pPr>
            <a:r>
              <a:t>• FR-08: Shopping cart review page displays selected items &amp; prices.</a:t>
            </a:r>
          </a:p>
          <a:p>
            <a:pPr>
              <a:defRPr sz="1000">
                <a:solidFill>
                  <a:srgbClr val="222222"/>
                </a:solidFill>
              </a:defRPr>
            </a:pPr>
            <a:r>
              <a:t>• FR-09: Submitting blank checkout info blocks flow with First Name error.</a:t>
            </a:r>
          </a:p>
          <a:p>
            <a:pPr>
              <a:defRPr sz="1000">
                <a:solidFill>
                  <a:srgbClr val="222222"/>
                </a:solidFill>
              </a:defRPr>
            </a:pPr>
            <a:r>
              <a:t>• FR-10: Incomplete information input triggers specific field validation.</a:t>
            </a:r>
          </a:p>
          <a:p>
            <a:pPr>
              <a:defRPr sz="1000">
                <a:solidFill>
                  <a:srgbClr val="222222"/>
                </a:solidFill>
              </a:defRPr>
            </a:pPr>
            <a:r>
              <a:t>• FR-11: Order overview verifies Subtotal + 8% Tax == Total calculation.</a:t>
            </a:r>
          </a:p>
          <a:p>
            <a:pPr>
              <a:defRPr sz="1000">
                <a:solidFill>
                  <a:srgbClr val="222222"/>
                </a:solidFill>
              </a:defRPr>
            </a:pPr>
            <a:r>
              <a:t>• FR-12: Order completion renders 'Thank you for your order!' confirmation.</a:t>
            </a:r>
          </a:p>
          <a:p>
            <a:pPr>
              <a:defRPr sz="1000">
                <a:solidFill>
                  <a:srgbClr val="222222"/>
                </a:solidFill>
              </a:defRPr>
            </a:pPr>
            <a:r>
              <a:t>• FR-13: Cancel checkout returns cleanly to cart (Step 1) or inventory (Step 2).</a:t>
            </a:r>
          </a:p>
          <a:p>
            <a:pPr>
              <a:defRPr sz="1000">
                <a:solidFill>
                  <a:srgbClr val="222222"/>
                </a:solidFill>
              </a:defRPr>
            </a:pPr>
            <a:r>
              <a:t>• FR-14: Secure logout ends user session &amp; blocks unauthorized URL access.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Project II Summary: Manual Functional Testing Strategy</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4 of 14</a:t>
            </a:r>
          </a:p>
        </p:txBody>
      </p:sp>
      <p:sp>
        <p:nvSpPr>
          <p:cNvPr id="6" name="Rounded Rectangle 5"/>
          <p:cNvSpPr/>
          <p:nvPr/>
        </p:nvSpPr>
        <p:spPr>
          <a:xfrm>
            <a:off x="731520" y="1371600"/>
            <a:ext cx="10728655" cy="4846320"/>
          </a:xfrm>
          <a:prstGeom prst="roundRect">
            <a:avLst/>
          </a:prstGeom>
          <a:solidFill>
            <a:srgbClr val="F4F6F9"/>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80015" cy="4480560"/>
          </a:xfrm>
          <a:prstGeom prst="rect">
            <a:avLst/>
          </a:prstGeom>
          <a:noFill/>
        </p:spPr>
        <p:txBody>
          <a:bodyPr wrap="square">
            <a:spAutoFit/>
          </a:bodyPr>
          <a:lstStyle/>
          <a:p>
            <a:pPr>
              <a:defRPr sz="1400" b="1">
                <a:solidFill>
                  <a:srgbClr val="003366"/>
                </a:solidFill>
              </a:defRPr>
            </a:pPr>
            <a:r>
              <a:t>Manual Execution Methodology &amp; Parameters</a:t>
            </a:r>
          </a:p>
          <a:p>
            <a:pPr>
              <a:defRPr sz="1100">
                <a:solidFill>
                  <a:srgbClr val="222222"/>
                </a:solidFill>
              </a:defRPr>
            </a:pPr>
            <a:r>
              <a:t>• 1-to-1 Traceability Mapping: Authored 14 detailed manual test cases (TC-01 to TC-14) corresponding directly to functional requirements FR-01 to FR-14.</a:t>
            </a:r>
            <a:br/>
          </a:p>
          <a:p>
            <a:pPr>
              <a:defRPr sz="1100">
                <a:solidFill>
                  <a:srgbClr val="222222"/>
                </a:solidFill>
              </a:defRPr>
            </a:pPr>
            <a:r>
              <a:t>• Manual Execution Scope: Interacted with Google Chrome manually to execute login flows, credential boundary validations, dropdown sorting, cart add/remove, form inputs, math tax calculations, and session logout.</a:t>
            </a:r>
            <a:br/>
          </a:p>
          <a:p>
            <a:pPr>
              <a:defRPr sz="1100">
                <a:solidFill>
                  <a:srgbClr val="222222"/>
                </a:solidFill>
              </a:defRPr>
            </a:pPr>
            <a:r>
              <a:t>• Execution Overhead &amp; Timing: Executing all 14 test cases manually required 18 full minutes (~1,080 seconds), averaging ~77.1 seconds per test case.</a:t>
            </a:r>
            <a:br/>
          </a:p>
          <a:p>
            <a:pPr>
              <a:defRPr sz="1100">
                <a:solidFill>
                  <a:srgbClr val="222222"/>
                </a:solidFill>
              </a:defRPr>
            </a:pPr>
            <a:r>
              <a:t>• Manual Verification Challenges: Human execution was susceptible to timing variation, required active mental calculation for tax verification, and depended on manual observation for defect recording.</a:t>
            </a: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Project II Findings: Manual Execution Results &amp; Defects</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5 of 14</a:t>
            </a:r>
          </a:p>
        </p:txBody>
      </p:sp>
      <p:sp>
        <p:nvSpPr>
          <p:cNvPr id="6" name="Rounded Rectangle 5"/>
          <p:cNvSpPr/>
          <p:nvPr/>
        </p:nvSpPr>
        <p:spPr>
          <a:xfrm>
            <a:off x="731520" y="1371600"/>
            <a:ext cx="5120640" cy="4846320"/>
          </a:xfrm>
          <a:prstGeom prst="roundRect">
            <a:avLst/>
          </a:prstGeom>
          <a:solidFill>
            <a:srgbClr val="FFFFFF"/>
          </a:solidFill>
          <a:ln>
            <a:solidFill>
              <a:srgbClr val="B4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754880" cy="4480560"/>
          </a:xfrm>
          <a:prstGeom prst="rect">
            <a:avLst/>
          </a:prstGeom>
          <a:noFill/>
        </p:spPr>
        <p:txBody>
          <a:bodyPr wrap="square">
            <a:spAutoFit/>
          </a:bodyPr>
          <a:lstStyle/>
          <a:p>
            <a:pPr>
              <a:defRPr sz="1300" b="1">
                <a:solidFill>
                  <a:srgbClr val="B40000"/>
                </a:solidFill>
              </a:defRPr>
            </a:pPr>
            <a:r>
              <a:t>DEFECT D-01 (SEVERITY: HIGH)</a:t>
            </a:r>
          </a:p>
          <a:p>
            <a:pPr>
              <a:defRPr sz="1000">
                <a:solidFill>
                  <a:srgbClr val="222222"/>
                </a:solidFill>
              </a:defRPr>
            </a:pPr>
            <a:r>
              <a:t>• Defect Title: Empty Cart Checkout Allowed</a:t>
            </a:r>
          </a:p>
          <a:p>
            <a:pPr>
              <a:defRPr sz="1000">
                <a:solidFill>
                  <a:srgbClr val="222222"/>
                </a:solidFill>
              </a:defRPr>
            </a:pPr>
            <a:r>
              <a:t>• Requirement Impacted: FR-08 / TC-08 / TC-09</a:t>
            </a:r>
          </a:p>
          <a:p>
            <a:pPr>
              <a:defRPr sz="1000">
                <a:solidFill>
                  <a:srgbClr val="222222"/>
                </a:solidFill>
              </a:defRPr>
            </a:pPr>
            <a:r>
              <a:t>• Behavior Observed: SauceDemo permits users to navigate to /cart.html with 0 items and click Checkout, proceeding through customer info &amp; overview.</a:t>
            </a:r>
          </a:p>
          <a:p>
            <a:pPr>
              <a:defRPr sz="1000">
                <a:solidFill>
                  <a:srgbClr val="222222"/>
                </a:solidFill>
              </a:defRPr>
            </a:pPr>
            <a:r>
              <a:t>• Risk: Causes unnecessary payment processing overhead &amp; bad user experience.</a:t>
            </a:r>
          </a:p>
          <a:p>
            <a:pPr>
              <a:defRPr sz="1000">
                <a:solidFill>
                  <a:srgbClr val="222222"/>
                </a:solidFill>
              </a:defRPr>
            </a:pPr>
            <a:r>
              <a:t>• Manual Status: FAILED (Logged in Defect Report)</a:t>
            </a:r>
          </a:p>
        </p:txBody>
      </p:sp>
      <p:sp>
        <p:nvSpPr>
          <p:cNvPr id="8" name="Rounded Rectangle 7"/>
          <p:cNvSpPr/>
          <p:nvPr/>
        </p:nvSpPr>
        <p:spPr>
          <a:xfrm>
            <a:off x="6217920" y="1371600"/>
            <a:ext cx="5120640" cy="4846320"/>
          </a:xfrm>
          <a:prstGeom prst="roundRect">
            <a:avLst/>
          </a:prstGeom>
          <a:solidFill>
            <a:srgbClr val="FFFFFF"/>
          </a:solidFill>
          <a:ln>
            <a:solidFill>
              <a:srgbClr val="C864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754880" cy="4480560"/>
          </a:xfrm>
          <a:prstGeom prst="rect">
            <a:avLst/>
          </a:prstGeom>
          <a:noFill/>
        </p:spPr>
        <p:txBody>
          <a:bodyPr wrap="square">
            <a:spAutoFit/>
          </a:bodyPr>
          <a:lstStyle/>
          <a:p>
            <a:pPr>
              <a:defRPr sz="1300" b="1">
                <a:solidFill>
                  <a:srgbClr val="C86400"/>
                </a:solidFill>
              </a:defRPr>
            </a:pPr>
            <a:r>
              <a:t>DEFECT D-02 (SEVERITY: MEDIUM)</a:t>
            </a:r>
          </a:p>
          <a:p>
            <a:pPr>
              <a:defRPr sz="1000">
                <a:solidFill>
                  <a:srgbClr val="222222"/>
                </a:solidFill>
              </a:defRPr>
            </a:pPr>
            <a:r>
              <a:t>• Defect Title: Inadequate Input Field Validation</a:t>
            </a:r>
          </a:p>
          <a:p>
            <a:pPr>
              <a:defRPr sz="1000">
                <a:solidFill>
                  <a:srgbClr val="222222"/>
                </a:solidFill>
              </a:defRPr>
            </a:pPr>
            <a:r>
              <a:t>• Requirement Impacted: FR-10 / TC-10</a:t>
            </a:r>
          </a:p>
          <a:p>
            <a:pPr>
              <a:defRPr sz="1000">
                <a:solidFill>
                  <a:srgbClr val="222222"/>
                </a:solidFill>
              </a:defRPr>
            </a:pPr>
            <a:r>
              <a:t>• Behavior Observed: Checkout customer fields accept single-character inputs ('a', '1', '!') without length or postal code regex validation.</a:t>
            </a:r>
          </a:p>
          <a:p>
            <a:pPr>
              <a:defRPr sz="1000">
                <a:solidFill>
                  <a:srgbClr val="222222"/>
                </a:solidFill>
              </a:defRPr>
            </a:pPr>
            <a:r>
              <a:t>• Risk: Potential data integrity issues in fulfillment systems.</a:t>
            </a:r>
          </a:p>
          <a:p>
            <a:pPr>
              <a:defRPr sz="1000">
                <a:solidFill>
                  <a:srgbClr val="222222"/>
                </a:solidFill>
              </a:defRPr>
            </a:pPr>
            <a:r>
              <a:t>• Manual Status: FAILED (Logged in Defect Report)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Project III Summary: Test Automation Strategy &amp; Tech Stack</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6 of 14</a:t>
            </a:r>
          </a:p>
        </p:txBody>
      </p:sp>
      <p:sp>
        <p:nvSpPr>
          <p:cNvPr id="6" name="Rounded Rectangle 5"/>
          <p:cNvSpPr/>
          <p:nvPr/>
        </p:nvSpPr>
        <p:spPr>
          <a:xfrm>
            <a:off x="731520" y="1371600"/>
            <a:ext cx="10728655" cy="4846320"/>
          </a:xfrm>
          <a:prstGeom prst="roundRect">
            <a:avLst/>
          </a:prstGeom>
          <a:solidFill>
            <a:srgbClr val="F4F6F9"/>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80015" cy="4480560"/>
          </a:xfrm>
          <a:prstGeom prst="rect">
            <a:avLst/>
          </a:prstGeom>
          <a:noFill/>
        </p:spPr>
        <p:txBody>
          <a:bodyPr wrap="square">
            <a:spAutoFit/>
          </a:bodyPr>
          <a:lstStyle/>
          <a:p>
            <a:pPr>
              <a:defRPr sz="1400" b="1">
                <a:solidFill>
                  <a:srgbClr val="003366"/>
                </a:solidFill>
              </a:defRPr>
            </a:pPr>
            <a:r>
              <a:t>Technology Stack &amp; Automation Architecture</a:t>
            </a:r>
          </a:p>
          <a:p>
            <a:pPr>
              <a:defRPr sz="1050">
                <a:solidFill>
                  <a:srgbClr val="222222"/>
                </a:solidFill>
              </a:defRPr>
            </a:pPr>
            <a:r>
              <a:t>• Python 3.11: Primary programming language selected for high readability, rich testing ecosystem, and seamless CI/CD integration.</a:t>
            </a:r>
            <a:br/>
          </a:p>
          <a:p>
            <a:pPr>
              <a:defRPr sz="1050">
                <a:solidFill>
                  <a:srgbClr val="222222"/>
                </a:solidFill>
              </a:defRPr>
            </a:pPr>
            <a:r>
              <a:t>• Selenium WebDriver 4.47: Core browser automation library utilizing native Selenium Manager for automatic ChromeDriver management.</a:t>
            </a:r>
            <a:br/>
          </a:p>
          <a:p>
            <a:pPr>
              <a:defRPr sz="1050">
                <a:solidFill>
                  <a:srgbClr val="222222"/>
                </a:solidFill>
              </a:defRPr>
            </a:pPr>
            <a:r>
              <a:t>• Pytest 9.1 Test Framework: Executes test suites, handles test parameterization, fixtures, marker filtering, and CLI flags.</a:t>
            </a:r>
            <a:br/>
          </a:p>
          <a:p>
            <a:pPr>
              <a:defRPr sz="1050">
                <a:solidFill>
                  <a:srgbClr val="222222"/>
                </a:solidFill>
              </a:defRPr>
            </a:pPr>
            <a:r>
              <a:t>• Robot Framework 7.4: Keyword-driven test suite with SeleniumLibrary providing readable business-level test scripts.</a:t>
            </a:r>
            <a:br/>
          </a:p>
          <a:p>
            <a:pPr>
              <a:defRPr sz="1050">
                <a:solidFill>
                  <a:srgbClr val="222222"/>
                </a:solidFill>
              </a:defRPr>
            </a:pPr>
            <a:r>
              <a:t>• Pytest-HTML &amp; JUnit XML: Generates self-contained interactive visual HTML reports and structured JUnit XML for CI pipelines.</a:t>
            </a:r>
            <a:br/>
          </a:p>
          <a:p>
            <a:pPr>
              <a:defRPr sz="1050">
                <a:solidFill>
                  <a:srgbClr val="222222"/>
                </a:solidFill>
              </a:defRPr>
            </a:pPr>
            <a:r>
              <a:t>• Dual Execution Modes: Supports Headed mode (--headed) for visual demonstration and Headless Chrome (--headless=new) for fast CI/CD execution.</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Page Object Model (POM) Architecture Breakdown</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7 of 14</a:t>
            </a:r>
          </a:p>
        </p:txBody>
      </p:sp>
      <p:sp>
        <p:nvSpPr>
          <p:cNvPr id="6" name="Rounded Rectangle 5"/>
          <p:cNvSpPr/>
          <p:nvPr/>
        </p:nvSpPr>
        <p:spPr>
          <a:xfrm>
            <a:off x="731520" y="1371600"/>
            <a:ext cx="10728655" cy="4846320"/>
          </a:xfrm>
          <a:prstGeom prst="roundRect">
            <a:avLst/>
          </a:prstGeom>
          <a:solidFill>
            <a:srgbClr val="FFFFFF"/>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80015" cy="4480560"/>
          </a:xfrm>
          <a:prstGeom prst="rect">
            <a:avLst/>
          </a:prstGeom>
          <a:noFill/>
        </p:spPr>
        <p:txBody>
          <a:bodyPr wrap="square">
            <a:spAutoFit/>
          </a:bodyPr>
          <a:lstStyle/>
          <a:p>
            <a:pPr>
              <a:defRPr sz="1400" b="1">
                <a:solidFill>
                  <a:srgbClr val="008080"/>
                </a:solidFill>
              </a:defRPr>
            </a:pPr>
            <a:r>
              <a:t>Modular Component Breakdown</a:t>
            </a:r>
          </a:p>
          <a:p>
            <a:pPr>
              <a:defRPr sz="1100">
                <a:solidFill>
                  <a:srgbClr val="222222"/>
                </a:solidFill>
              </a:defRPr>
            </a:pPr>
            <a:r>
              <a:t>• 1. BasePage (base_page.py): Foundation parent class containing explicit waits (WebDriverWait), safe JavaScript clicks, React event dispatching, and screenshot capture.</a:t>
            </a:r>
            <a:br/>
          </a:p>
          <a:p>
            <a:pPr>
              <a:defRPr sz="1100">
                <a:solidFill>
                  <a:srgbClr val="222222"/>
                </a:solidFill>
              </a:defRPr>
            </a:pPr>
            <a:r>
              <a:t>• 2. Encapsulated Page Classes (pages/*.py): 7 dedicated page objects (LoginPage, InventoryPage, ProductDetailsPage, CartPage, CheckoutStepOnePage, CheckoutStepTwoPage, CheckoutCompletePage) holding locators &amp; action methods.</a:t>
            </a:r>
            <a:br/>
          </a:p>
          <a:p>
            <a:pPr>
              <a:defRPr sz="1100">
                <a:solidFill>
                  <a:srgbClr val="222222"/>
                </a:solidFill>
              </a:defRPr>
            </a:pPr>
            <a:r>
              <a:t>• 3. Test Suites (tests/*.py): Pure assertion test files (test_authentication.py, test_inventory.py, test_cart.py, test_checkout.py, test_e2e_workflow.py) containing zero hardcoded locators.</a:t>
            </a:r>
            <a:br/>
          </a:p>
          <a:p>
            <a:pPr>
              <a:defRPr sz="1100">
                <a:solidFill>
                  <a:srgbClr val="222222"/>
                </a:solidFill>
              </a:defRPr>
            </a:pPr>
            <a:r>
              <a:t>• 4. Architectural Benefits: High reusability, single-point locator maintenance, dynamic synchronization, and zero code duplication across test suites.</a:t>
            </a:r>
            <a:b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Project III Execution Results: 100% Pass Rate</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8 of 14</a:t>
            </a:r>
          </a:p>
        </p:txBody>
      </p:sp>
      <p:graphicFrame>
        <p:nvGraphicFramePr>
          <p:cNvPr id="6" name="Table 5"/>
          <p:cNvGraphicFramePr>
            <a:graphicFrameLocks noGrp="1"/>
          </p:cNvGraphicFramePr>
          <p:nvPr/>
        </p:nvGraphicFramePr>
        <p:xfrm>
          <a:off x="731520" y="1371600"/>
          <a:ext cx="10728655" cy="201168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502920">
                <a:tc>
                  <a:txBody>
                    <a:bodyPr/>
                    <a:lstStyle/>
                    <a:p>
                      <a:pPr algn="ctr">
                        <a:defRPr b="1" sz="1100">
                          <a:solidFill>
                            <a:srgbClr val="FFFFFF"/>
                          </a:solidFill>
                        </a:defRPr>
                      </a:pPr>
                      <a:r>
                        <a:t>Framework / Suite</a:t>
                      </a:r>
                    </a:p>
                  </a:txBody>
                  <a:tcPr>
                    <a:solidFill>
                      <a:srgbClr val="003366"/>
                    </a:solidFill>
                  </a:tcPr>
                </a:tc>
                <a:tc>
                  <a:txBody>
                    <a:bodyPr/>
                    <a:lstStyle/>
                    <a:p>
                      <a:pPr algn="ctr">
                        <a:defRPr b="1" sz="1100">
                          <a:solidFill>
                            <a:srgbClr val="FFFFFF"/>
                          </a:solidFill>
                        </a:defRPr>
                      </a:pPr>
                      <a:r>
                        <a:t>Total Scenarios</a:t>
                      </a:r>
                    </a:p>
                  </a:txBody>
                  <a:tcPr>
                    <a:solidFill>
                      <a:srgbClr val="003366"/>
                    </a:solidFill>
                  </a:tcPr>
                </a:tc>
                <a:tc>
                  <a:txBody>
                    <a:bodyPr/>
                    <a:lstStyle/>
                    <a:p>
                      <a:pPr algn="ctr">
                        <a:defRPr b="1" sz="1100">
                          <a:solidFill>
                            <a:srgbClr val="FFFFFF"/>
                          </a:solidFill>
                        </a:defRPr>
                      </a:pPr>
                      <a:r>
                        <a:t>Passed</a:t>
                      </a:r>
                    </a:p>
                  </a:txBody>
                  <a:tcPr>
                    <a:solidFill>
                      <a:srgbClr val="003366"/>
                    </a:solidFill>
                  </a:tcPr>
                </a:tc>
                <a:tc>
                  <a:txBody>
                    <a:bodyPr/>
                    <a:lstStyle/>
                    <a:p>
                      <a:pPr algn="ctr">
                        <a:defRPr b="1" sz="1100">
                          <a:solidFill>
                            <a:srgbClr val="FFFFFF"/>
                          </a:solidFill>
                        </a:defRPr>
                      </a:pPr>
                      <a:r>
                        <a:t>Failed</a:t>
                      </a:r>
                    </a:p>
                  </a:txBody>
                  <a:tcPr>
                    <a:solidFill>
                      <a:srgbClr val="003366"/>
                    </a:solidFill>
                  </a:tcPr>
                </a:tc>
                <a:tc>
                  <a:txBody>
                    <a:bodyPr/>
                    <a:lstStyle/>
                    <a:p>
                      <a:pPr algn="ctr">
                        <a:defRPr b="1" sz="1100">
                          <a:solidFill>
                            <a:srgbClr val="FFFFFF"/>
                          </a:solidFill>
                        </a:defRPr>
                      </a:pPr>
                      <a:r>
                        <a:t>Pass Rate</a:t>
                      </a:r>
                    </a:p>
                  </a:txBody>
                  <a:tcPr>
                    <a:solidFill>
                      <a:srgbClr val="003366"/>
                    </a:solidFill>
                  </a:tcPr>
                </a:tc>
              </a:tr>
              <a:tr h="502920">
                <a:tc>
                  <a:txBody>
                    <a:bodyPr/>
                    <a:lstStyle/>
                    <a:p>
                      <a:pPr algn="ctr">
                        <a:defRPr sz="1100"/>
                      </a:pPr>
                      <a:r>
                        <a:t>Selenium WebDriver (Pytest)</a:t>
                      </a:r>
                    </a:p>
                  </a:txBody>
                  <a:tcPr>
                    <a:solidFill>
                      <a:srgbClr val="F4F6F9"/>
                    </a:solidFill>
                  </a:tcPr>
                </a:tc>
                <a:tc>
                  <a:txBody>
                    <a:bodyPr/>
                    <a:lstStyle/>
                    <a:p>
                      <a:pPr algn="ctr">
                        <a:defRPr sz="1100"/>
                      </a:pPr>
                      <a:r>
                        <a:t>22</a:t>
                      </a:r>
                    </a:p>
                  </a:txBody>
                  <a:tcPr>
                    <a:solidFill>
                      <a:srgbClr val="F4F6F9"/>
                    </a:solidFill>
                  </a:tcPr>
                </a:tc>
                <a:tc>
                  <a:txBody>
                    <a:bodyPr/>
                    <a:lstStyle/>
                    <a:p>
                      <a:pPr algn="ctr">
                        <a:defRPr sz="1100"/>
                      </a:pPr>
                      <a:r>
                        <a:t>22</a:t>
                      </a:r>
                    </a:p>
                  </a:txBody>
                  <a:tcPr>
                    <a:solidFill>
                      <a:srgbClr val="F4F6F9"/>
                    </a:solidFill>
                  </a:tcPr>
                </a:tc>
                <a:tc>
                  <a:txBody>
                    <a:bodyPr/>
                    <a:lstStyle/>
                    <a:p>
                      <a:pPr algn="ctr">
                        <a:defRPr sz="1100"/>
                      </a:pPr>
                      <a:r>
                        <a:t>0</a:t>
                      </a:r>
                    </a:p>
                  </a:txBody>
                  <a:tcPr>
                    <a:solidFill>
                      <a:srgbClr val="F4F6F9"/>
                    </a:solidFill>
                  </a:tcPr>
                </a:tc>
                <a:tc>
                  <a:txBody>
                    <a:bodyPr/>
                    <a:lstStyle/>
                    <a:p>
                      <a:pPr algn="ctr">
                        <a:defRPr sz="1100" b="1">
                          <a:solidFill>
                            <a:srgbClr val="008000"/>
                          </a:solidFill>
                        </a:defRPr>
                      </a:pPr>
                      <a:r>
                        <a:t>100%</a:t>
                      </a:r>
                    </a:p>
                  </a:txBody>
                  <a:tcPr>
                    <a:solidFill>
                      <a:srgbClr val="F4F6F9"/>
                    </a:solidFill>
                  </a:tcPr>
                </a:tc>
              </a:tr>
              <a:tr h="502920">
                <a:tc>
                  <a:txBody>
                    <a:bodyPr/>
                    <a:lstStyle/>
                    <a:p>
                      <a:pPr algn="ctr">
                        <a:defRPr sz="1100"/>
                      </a:pPr>
                      <a:r>
                        <a:t>Robot Framework Suite</a:t>
                      </a:r>
                    </a:p>
                  </a:txBody>
                  <a:tcPr>
                    <a:solidFill>
                      <a:srgbClr val="F4F6F9"/>
                    </a:solidFill>
                  </a:tcPr>
                </a:tc>
                <a:tc>
                  <a:txBody>
                    <a:bodyPr/>
                    <a:lstStyle/>
                    <a:p>
                      <a:pPr algn="ctr">
                        <a:defRPr sz="1100"/>
                      </a:pPr>
                      <a:r>
                        <a:t>14</a:t>
                      </a:r>
                    </a:p>
                  </a:txBody>
                  <a:tcPr>
                    <a:solidFill>
                      <a:srgbClr val="F4F6F9"/>
                    </a:solidFill>
                  </a:tcPr>
                </a:tc>
                <a:tc>
                  <a:txBody>
                    <a:bodyPr/>
                    <a:lstStyle/>
                    <a:p>
                      <a:pPr algn="ctr">
                        <a:defRPr sz="1100"/>
                      </a:pPr>
                      <a:r>
                        <a:t>14</a:t>
                      </a:r>
                    </a:p>
                  </a:txBody>
                  <a:tcPr>
                    <a:solidFill>
                      <a:srgbClr val="F4F6F9"/>
                    </a:solidFill>
                  </a:tcPr>
                </a:tc>
                <a:tc>
                  <a:txBody>
                    <a:bodyPr/>
                    <a:lstStyle/>
                    <a:p>
                      <a:pPr algn="ctr">
                        <a:defRPr sz="1100"/>
                      </a:pPr>
                      <a:r>
                        <a:t>0</a:t>
                      </a:r>
                    </a:p>
                  </a:txBody>
                  <a:tcPr>
                    <a:solidFill>
                      <a:srgbClr val="F4F6F9"/>
                    </a:solidFill>
                  </a:tcPr>
                </a:tc>
                <a:tc>
                  <a:txBody>
                    <a:bodyPr/>
                    <a:lstStyle/>
                    <a:p>
                      <a:pPr algn="ctr">
                        <a:defRPr sz="1100" b="1">
                          <a:solidFill>
                            <a:srgbClr val="008000"/>
                          </a:solidFill>
                        </a:defRPr>
                      </a:pPr>
                      <a:r>
                        <a:t>100%</a:t>
                      </a:r>
                    </a:p>
                  </a:txBody>
                  <a:tcPr>
                    <a:solidFill>
                      <a:srgbClr val="F4F6F9"/>
                    </a:solidFill>
                  </a:tcPr>
                </a:tc>
              </a:tr>
              <a:tr h="502920">
                <a:tc>
                  <a:txBody>
                    <a:bodyPr/>
                    <a:lstStyle/>
                    <a:p>
                      <a:pPr algn="ctr">
                        <a:defRPr sz="1100" b="1">
                          <a:solidFill>
                            <a:srgbClr val="FFFFFF"/>
                          </a:solidFill>
                        </a:defRPr>
                      </a:pPr>
                      <a:r>
                        <a:t>CONSOLIDATED TOTAL</a:t>
                      </a:r>
                    </a:p>
                  </a:txBody>
                  <a:tcPr>
                    <a:solidFill>
                      <a:srgbClr val="008080"/>
                    </a:solidFill>
                  </a:tcPr>
                </a:tc>
                <a:tc>
                  <a:txBody>
                    <a:bodyPr/>
                    <a:lstStyle/>
                    <a:p>
                      <a:pPr algn="ctr">
                        <a:defRPr sz="1100" b="1">
                          <a:solidFill>
                            <a:srgbClr val="FFFFFF"/>
                          </a:solidFill>
                        </a:defRPr>
                      </a:pPr>
                      <a:r>
                        <a:t>36</a:t>
                      </a:r>
                    </a:p>
                  </a:txBody>
                  <a:tcPr>
                    <a:solidFill>
                      <a:srgbClr val="008080"/>
                    </a:solidFill>
                  </a:tcPr>
                </a:tc>
                <a:tc>
                  <a:txBody>
                    <a:bodyPr/>
                    <a:lstStyle/>
                    <a:p>
                      <a:pPr algn="ctr">
                        <a:defRPr sz="1100" b="1">
                          <a:solidFill>
                            <a:srgbClr val="FFFFFF"/>
                          </a:solidFill>
                        </a:defRPr>
                      </a:pPr>
                      <a:r>
                        <a:t>36</a:t>
                      </a:r>
                    </a:p>
                  </a:txBody>
                  <a:tcPr>
                    <a:solidFill>
                      <a:srgbClr val="008080"/>
                    </a:solidFill>
                  </a:tcPr>
                </a:tc>
                <a:tc>
                  <a:txBody>
                    <a:bodyPr/>
                    <a:lstStyle/>
                    <a:p>
                      <a:pPr algn="ctr">
                        <a:defRPr sz="1100" b="1">
                          <a:solidFill>
                            <a:srgbClr val="FFFFFF"/>
                          </a:solidFill>
                        </a:defRPr>
                      </a:pPr>
                      <a:r>
                        <a:t>0</a:t>
                      </a:r>
                    </a:p>
                  </a:txBody>
                  <a:tcPr>
                    <a:solidFill>
                      <a:srgbClr val="008080"/>
                    </a:solidFill>
                  </a:tcPr>
                </a:tc>
                <a:tc>
                  <a:txBody>
                    <a:bodyPr/>
                    <a:lstStyle/>
                    <a:p>
                      <a:pPr algn="ctr">
                        <a:defRPr sz="1100" b="1">
                          <a:solidFill>
                            <a:srgbClr val="FFFFFF"/>
                          </a:solidFill>
                        </a:defRPr>
                      </a:pPr>
                      <a:r>
                        <a:t>100%</a:t>
                      </a:r>
                    </a:p>
                  </a:txBody>
                  <a:tcPr>
                    <a:solidFill>
                      <a:srgbClr val="008080"/>
                    </a:solidFill>
                  </a:tcPr>
                </a:tc>
              </a:tr>
            </a:tbl>
          </a:graphicData>
        </a:graphic>
      </p:graphicFrame>
      <p:sp>
        <p:nvSpPr>
          <p:cNvPr id="7" name="TextBox 6"/>
          <p:cNvSpPr txBox="1"/>
          <p:nvPr/>
        </p:nvSpPr>
        <p:spPr>
          <a:xfrm>
            <a:off x="731520" y="3657600"/>
            <a:ext cx="10728655" cy="2560320"/>
          </a:xfrm>
          <a:prstGeom prst="rect">
            <a:avLst/>
          </a:prstGeom>
          <a:noFill/>
        </p:spPr>
        <p:txBody>
          <a:bodyPr wrap="square">
            <a:spAutoFit/>
          </a:bodyPr>
          <a:lstStyle/>
          <a:p>
            <a:pPr>
              <a:defRPr sz="1300" b="1">
                <a:solidFill>
                  <a:srgbClr val="003366"/>
                </a:solidFill>
              </a:defRPr>
            </a:pPr>
            <a:r>
              <a:t>Key Automation Highlights:</a:t>
            </a:r>
          </a:p>
          <a:p>
            <a:pPr>
              <a:defRPr sz="1050">
                <a:solidFill>
                  <a:srgbClr val="222222"/>
                </a:solidFill>
              </a:defRPr>
            </a:pPr>
            <a:r>
              <a:t>• Full Feature Coverage: TC-01 to TC-14 automated seamlessly across login, catalog grid, 4-way sorting, cart management, checkout forms, and math calculations.</a:t>
            </a:r>
          </a:p>
          <a:p>
            <a:pPr>
              <a:defRPr sz="1050">
                <a:solidFill>
                  <a:srgbClr val="222222"/>
                </a:solidFill>
              </a:defRPr>
            </a:pPr>
            <a:r>
              <a:t>• Mathematical Verification (TC-11): Programmatically verified floating-point math: Subtotal ($45.98) + 8% Tax ($3.68) == Total ($49.66).</a:t>
            </a:r>
          </a:p>
          <a:p>
            <a:pPr>
              <a:defRPr sz="1050">
                <a:solidFill>
                  <a:srgbClr val="222222"/>
                </a:solidFill>
              </a:defRPr>
            </a:pPr>
            <a:r>
              <a:t>• E2E Purchase Workflow: Automated complete 13-step user purchasing journey from authentication to order finish and secure logout in 3.45 seconds.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Discrepancies Analysis: Manual vs. Automated Execution</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9 of 14</a:t>
            </a:r>
          </a:p>
        </p:txBody>
      </p:sp>
      <p:sp>
        <p:nvSpPr>
          <p:cNvPr id="6" name="Rounded Rectangle 5"/>
          <p:cNvSpPr/>
          <p:nvPr/>
        </p:nvSpPr>
        <p:spPr>
          <a:xfrm>
            <a:off x="731520" y="1371600"/>
            <a:ext cx="10728655" cy="4846320"/>
          </a:xfrm>
          <a:prstGeom prst="roundRect">
            <a:avLst/>
          </a:prstGeom>
          <a:solidFill>
            <a:srgbClr val="F4F6F9"/>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80015" cy="4480560"/>
          </a:xfrm>
          <a:prstGeom prst="rect">
            <a:avLst/>
          </a:prstGeom>
          <a:noFill/>
        </p:spPr>
        <p:txBody>
          <a:bodyPr wrap="square">
            <a:spAutoFit/>
          </a:bodyPr>
          <a:lstStyle/>
          <a:p>
            <a:pPr>
              <a:defRPr sz="1400" b="1">
                <a:solidFill>
                  <a:srgbClr val="003366"/>
                </a:solidFill>
              </a:defRPr>
            </a:pPr>
            <a:r>
              <a:t>Execution Speed &amp; Performance Discrepancy</a:t>
            </a:r>
          </a:p>
          <a:p>
            <a:pPr>
              <a:defRPr sz="1100">
                <a:solidFill>
                  <a:srgbClr val="222222"/>
                </a:solidFill>
              </a:defRPr>
            </a:pPr>
            <a:r>
              <a:t>• Total Execution Duration: Manual testing required 18 minutes (1,080 seconds) vs. Automation running in 1 minute 50 seconds (110.58 seconds) — an 89.8% reduction in regression time (9.8x faster).</a:t>
            </a:r>
            <a:br/>
          </a:p>
          <a:p>
            <a:pPr>
              <a:defRPr sz="1100">
                <a:solidFill>
                  <a:srgbClr val="222222"/>
                </a:solidFill>
              </a:defRPr>
            </a:pPr>
            <a:r>
              <a:t>• Average Time per Test Case: Reduced from ~77.1 seconds manually down to ~5.0 seconds per automated test case.</a:t>
            </a:r>
            <a:br/>
          </a:p>
          <a:p>
            <a:pPr>
              <a:defRPr sz="1100">
                <a:solidFill>
                  <a:srgbClr val="222222"/>
                </a:solidFill>
              </a:defRPr>
            </a:pPr>
            <a:r>
              <a:t>• Human Labor Savings: 100% human labor savings during regression cycles. Bot handles execution headlessly without manual interaction.</a:t>
            </a:r>
            <a:br/>
          </a:p>
          <a:p>
            <a:pPr>
              <a:defRPr sz="1100">
                <a:solidFill>
                  <a:srgbClr val="222222"/>
                </a:solidFill>
              </a:defRPr>
            </a:pPr>
            <a:r>
              <a:t>• Repeatability &amp; Precision: Manual testing is subject to fatigue and human error; Automation provides 100% deterministic precision and instant screenshot evidence on failure.</a:t>
            </a:r>
            <a:b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Technical Discrepancies &amp; Engineering Resolutions</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10 of 14</a:t>
            </a:r>
          </a:p>
        </p:txBody>
      </p:sp>
      <p:sp>
        <p:nvSpPr>
          <p:cNvPr id="6" name="Rounded Rectangle 5"/>
          <p:cNvSpPr/>
          <p:nvPr/>
        </p:nvSpPr>
        <p:spPr>
          <a:xfrm>
            <a:off x="731520" y="1371600"/>
            <a:ext cx="10728655" cy="4846320"/>
          </a:xfrm>
          <a:prstGeom prst="roundRect">
            <a:avLst/>
          </a:prstGeom>
          <a:solidFill>
            <a:srgbClr val="FFFFFF"/>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80015" cy="4480560"/>
          </a:xfrm>
          <a:prstGeom prst="rect">
            <a:avLst/>
          </a:prstGeom>
          <a:noFill/>
        </p:spPr>
        <p:txBody>
          <a:bodyPr wrap="square">
            <a:spAutoFit/>
          </a:bodyPr>
          <a:lstStyle/>
          <a:p>
            <a:pPr>
              <a:defRPr sz="1400" b="1">
                <a:solidFill>
                  <a:srgbClr val="008080"/>
                </a:solidFill>
              </a:defRPr>
            </a:pPr>
            <a:r>
              <a:t>Key Technical Challenges &amp; Solutions</a:t>
            </a:r>
          </a:p>
          <a:p>
            <a:pPr>
              <a:defRPr sz="1050">
                <a:solidFill>
                  <a:srgbClr val="222222"/>
                </a:solidFill>
              </a:defRPr>
            </a:pPr>
            <a:r>
              <a:t>• 1. React Virtual DOM Mutation (TC-04 Sorting): React unmounts old DOM nodes during re-sorting, causing StaleElementReferenceException. Resolved by evaluating live DOM arrays atomically via JavaScript in BasePage.</a:t>
            </a:r>
            <a:br/>
          </a:p>
          <a:p>
            <a:pPr>
              <a:defRPr sz="1050">
                <a:solidFill>
                  <a:srgbClr val="222222"/>
                </a:solidFill>
              </a:defRPr>
            </a:pPr>
            <a:r>
              <a:t>• 2. Controlled Input Component Sync (TC-09, TC-10): Headless Chrome send_keys() bypassed React internal _valueTracker state. Resolved by dispatching synthetic 'input' and 'change' events in BasePage.enter_text().</a:t>
            </a:r>
            <a:br/>
          </a:p>
          <a:p>
            <a:pPr>
              <a:defRPr sz="1050">
                <a:solidFill>
                  <a:srgbClr val="222222"/>
                </a:solidFill>
              </a:defRPr>
            </a:pPr>
            <a:r>
              <a:t>• 3. Headless Text Extraction Discrepancy: Selenium .text returned empty string on select span elements in headless mode. Resolved by standardizing on direct textContent JavaScript extraction.</a:t>
            </a:r>
            <a:br/>
          </a:p>
          <a:p>
            <a:pPr>
              <a:defRPr sz="1050">
                <a:solidFill>
                  <a:srgbClr val="222222"/>
                </a:solidFill>
              </a:defRPr>
            </a:pPr>
            <a:r>
              <a:t>• 4. Transition Animation Sync (TC-14): Sidebar menu slide-out caused click interception. Resolved by adding explicit WebDriverWait conditions instead of hardcoded sleeps.</a:t>
            </a:r>
            <a:b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Continuous Integration (CI/CD) Pipeline Implementation</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11 of 14</a:t>
            </a:r>
          </a:p>
        </p:txBody>
      </p:sp>
      <p:sp>
        <p:nvSpPr>
          <p:cNvPr id="6" name="Rounded Rectangle 5"/>
          <p:cNvSpPr/>
          <p:nvPr/>
        </p:nvSpPr>
        <p:spPr>
          <a:xfrm>
            <a:off x="731520" y="1371600"/>
            <a:ext cx="5120640" cy="4846320"/>
          </a:xfrm>
          <a:prstGeom prst="roundRect">
            <a:avLst/>
          </a:prstGeom>
          <a:solidFill>
            <a:srgbClr val="F4F6F9"/>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554480"/>
            <a:ext cx="4754880" cy="4480560"/>
          </a:xfrm>
          <a:prstGeom prst="rect">
            <a:avLst/>
          </a:prstGeom>
          <a:noFill/>
        </p:spPr>
        <p:txBody>
          <a:bodyPr wrap="square">
            <a:spAutoFit/>
          </a:bodyPr>
          <a:lstStyle/>
          <a:p>
            <a:pPr>
              <a:defRPr sz="1300" b="1">
                <a:solidFill>
                  <a:srgbClr val="003366"/>
                </a:solidFill>
              </a:defRPr>
            </a:pPr>
            <a:r>
              <a:t>JENKINS PIPELINE (ci_cd/Jenkinsfile)</a:t>
            </a:r>
          </a:p>
          <a:p>
            <a:pPr>
              <a:defRPr sz="1000">
                <a:solidFill>
                  <a:srgbClr val="222222"/>
                </a:solidFill>
              </a:defRPr>
            </a:pPr>
            <a:r>
              <a:t>• Declarative Multi-Stage Pipeline:</a:t>
            </a:r>
          </a:p>
          <a:p>
            <a:pPr>
              <a:defRPr sz="1000">
                <a:solidFill>
                  <a:srgbClr val="222222"/>
                </a:solidFill>
              </a:defRPr>
            </a:pPr>
            <a:r>
              <a:t>• 1. Checkout: Pulls latest code from git repository.</a:t>
            </a:r>
          </a:p>
          <a:p>
            <a:pPr>
              <a:defRPr sz="1000">
                <a:solidFill>
                  <a:srgbClr val="222222"/>
                </a:solidFill>
              </a:defRPr>
            </a:pPr>
            <a:r>
              <a:t>• 2. Environment Setup: Installs requirements.txt.</a:t>
            </a:r>
          </a:p>
          <a:p>
            <a:pPr>
              <a:defRPr sz="1000">
                <a:solidFill>
                  <a:srgbClr val="222222"/>
                </a:solidFill>
              </a:defRPr>
            </a:pPr>
            <a:r>
              <a:t>• 3. Selenium Pytest Stage: Runs headless test suite &amp; outputs JUnit XML.</a:t>
            </a:r>
          </a:p>
          <a:p>
            <a:pPr>
              <a:defRPr sz="1000">
                <a:solidFill>
                  <a:srgbClr val="222222"/>
                </a:solidFill>
              </a:defRPr>
            </a:pPr>
            <a:r>
              <a:t>• 4. Robot Framework Stage: Runs headless Robot suite.</a:t>
            </a:r>
          </a:p>
          <a:p>
            <a:pPr>
              <a:defRPr sz="1000">
                <a:solidFill>
                  <a:srgbClr val="222222"/>
                </a:solidFill>
              </a:defRPr>
            </a:pPr>
            <a:r>
              <a:t>• 5. Archive Artifacts: Publishes HTML reports &amp; test results.</a:t>
            </a:r>
          </a:p>
        </p:txBody>
      </p:sp>
      <p:sp>
        <p:nvSpPr>
          <p:cNvPr id="8" name="Rounded Rectangle 7"/>
          <p:cNvSpPr/>
          <p:nvPr/>
        </p:nvSpPr>
        <p:spPr>
          <a:xfrm>
            <a:off x="6217920" y="1371600"/>
            <a:ext cx="5120640" cy="4846320"/>
          </a:xfrm>
          <a:prstGeom prst="roundRect">
            <a:avLst/>
          </a:prstGeom>
          <a:solidFill>
            <a:srgbClr val="F4F6F9"/>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754880" cy="4480560"/>
          </a:xfrm>
          <a:prstGeom prst="rect">
            <a:avLst/>
          </a:prstGeom>
          <a:noFill/>
        </p:spPr>
        <p:txBody>
          <a:bodyPr wrap="square">
            <a:spAutoFit/>
          </a:bodyPr>
          <a:lstStyle/>
          <a:p>
            <a:pPr>
              <a:defRPr sz="1300" b="1">
                <a:solidFill>
                  <a:srgbClr val="008080"/>
                </a:solidFill>
              </a:defRPr>
            </a:pPr>
            <a:r>
              <a:t>GITHUB ACTIONS (.github/workflows/)</a:t>
            </a:r>
          </a:p>
          <a:p>
            <a:pPr>
              <a:defRPr sz="1000">
                <a:solidFill>
                  <a:srgbClr val="222222"/>
                </a:solidFill>
              </a:defRPr>
            </a:pPr>
            <a:r>
              <a:t>• Automated Push &amp; PR Workflow:</a:t>
            </a:r>
          </a:p>
          <a:p>
            <a:pPr>
              <a:defRPr sz="1000">
                <a:solidFill>
                  <a:srgbClr val="222222"/>
                </a:solidFill>
              </a:defRPr>
            </a:pPr>
            <a:r>
              <a:t>• • Triggers automatically on code push to main/master.</a:t>
            </a:r>
          </a:p>
          <a:p>
            <a:pPr>
              <a:defRPr sz="1000">
                <a:solidFill>
                  <a:srgbClr val="222222"/>
                </a:solidFill>
              </a:defRPr>
            </a:pPr>
            <a:r>
              <a:t>• • Runs on Windows runner with Python 3.11.</a:t>
            </a:r>
          </a:p>
          <a:p>
            <a:pPr>
              <a:defRPr sz="1000">
                <a:solidFill>
                  <a:srgbClr val="222222"/>
                </a:solidFill>
              </a:defRPr>
            </a:pPr>
            <a:r>
              <a:t>• • Executes both Selenium and Robot test suites.</a:t>
            </a:r>
          </a:p>
          <a:p>
            <a:pPr>
              <a:defRPr sz="1000">
                <a:solidFill>
                  <a:srgbClr val="222222"/>
                </a:solidFill>
              </a:defRPr>
            </a:pPr>
            <a:r>
              <a:t>• • Uploads HTML test reports and failure screenshots as GitHub workflow run artifacts.</a:t>
            </a:r>
          </a:p>
          <a:p>
            <a:pPr>
              <a:defRPr sz="1000">
                <a:solidFill>
                  <a:srgbClr val="222222"/>
                </a:solidFill>
              </a:defRPr>
            </a:pPr>
            <a:r>
              <a:t>• • Verified building green on GitHub repository.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Mandatory Live Demonstration Guide</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12 of 14</a:t>
            </a:r>
          </a:p>
        </p:txBody>
      </p:sp>
      <p:sp>
        <p:nvSpPr>
          <p:cNvPr id="6" name="Rounded Rectangle 5"/>
          <p:cNvSpPr/>
          <p:nvPr/>
        </p:nvSpPr>
        <p:spPr>
          <a:xfrm>
            <a:off x="731520" y="1371600"/>
            <a:ext cx="10728655" cy="4846320"/>
          </a:xfrm>
          <a:prstGeom prst="roundRect">
            <a:avLst/>
          </a:prstGeom>
          <a:solidFill>
            <a:srgbClr val="FFFFFF"/>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80015" cy="4480560"/>
          </a:xfrm>
          <a:prstGeom prst="rect">
            <a:avLst/>
          </a:prstGeom>
          <a:noFill/>
        </p:spPr>
        <p:txBody>
          <a:bodyPr wrap="square">
            <a:spAutoFit/>
          </a:bodyPr>
          <a:lstStyle/>
          <a:p>
            <a:pPr>
              <a:defRPr sz="1400" b="1">
                <a:solidFill>
                  <a:srgbClr val="003366"/>
                </a:solidFill>
              </a:defRPr>
            </a:pPr>
            <a:r>
              <a:t>Live Execution Steps &amp; Terminal Commands</a:t>
            </a:r>
          </a:p>
          <a:p>
            <a:pPr>
              <a:defRPr b="1" sz="1150">
                <a:solidFill>
                  <a:srgbClr val="008080"/>
                </a:solidFill>
              </a:defRPr>
            </a:pPr>
            <a:r>
              <a:t>Step 1: Visual Headed Execution (Watch Chrome Run Live)</a:t>
            </a:r>
          </a:p>
          <a:p>
            <a:pPr>
              <a:defRPr sz="1000">
                <a:solidFill>
                  <a:srgbClr val="222222"/>
                </a:solidFill>
              </a:defRPr>
            </a:pPr>
            <a:r>
              <a:t>   Command: python -m pytest automation_selenium/tests/ --headed -v</a:t>
            </a:r>
          </a:p>
          <a:p>
            <a:pPr>
              <a:defRPr sz="1000">
                <a:solidFill>
                  <a:srgbClr val="222222"/>
                </a:solidFill>
              </a:defRPr>
            </a:pPr>
            <a:r>
              <a:t>   Demonstrates: Real-time browser automation of login, sorting, cart add/remove, form input, math tax validation, and logout.</a:t>
            </a:r>
          </a:p>
          <a:p>
            <a:pPr>
              <a:defRPr b="1" sz="1150">
                <a:solidFill>
                  <a:srgbClr val="008080"/>
                </a:solidFill>
              </a:defRPr>
            </a:pPr>
            <a:r>
              <a:t>Step 2: Unified Test Runner Execution</a:t>
            </a:r>
          </a:p>
          <a:p>
            <a:pPr>
              <a:defRPr sz="1000">
                <a:solidFill>
                  <a:srgbClr val="222222"/>
                </a:solidFill>
              </a:defRPr>
            </a:pPr>
            <a:r>
              <a:t>   Command: python run_tests.py --suite all</a:t>
            </a:r>
          </a:p>
          <a:p>
            <a:pPr>
              <a:defRPr sz="1000">
                <a:solidFill>
                  <a:srgbClr val="222222"/>
                </a:solidFill>
              </a:defRPr>
            </a:pPr>
            <a:r>
              <a:t>   Demonstrates: Sequential execution of Pytest POM suite and Robot Framework suite with summary console metrics.</a:t>
            </a:r>
          </a:p>
          <a:p>
            <a:pPr>
              <a:defRPr b="1" sz="1150">
                <a:solidFill>
                  <a:srgbClr val="008080"/>
                </a:solidFill>
              </a:defRPr>
            </a:pPr>
            <a:r>
              <a:t>Step 3: Interactive Visual HTML Report Inspection</a:t>
            </a:r>
          </a:p>
          <a:p>
            <a:pPr>
              <a:defRPr sz="1000">
                <a:solidFill>
                  <a:srgbClr val="222222"/>
                </a:solidFill>
              </a:defRPr>
            </a:pPr>
            <a:r>
              <a:t>   Open in Browser: reports/selenium_test_report.html &amp; reports/robot_logs/report.html</a:t>
            </a:r>
          </a:p>
          <a:p>
            <a:pPr>
              <a:defRPr sz="1000">
                <a:solidFill>
                  <a:srgbClr val="222222"/>
                </a:solidFill>
              </a:defRPr>
            </a:pPr>
            <a:r>
              <a:t>   Demonstrates: 100% Pass Rate charts, individual test timings, system environment metadata, and failure screenshot hooks.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Project ROI, Value Delivered &amp; Recommendations</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13 of 14</a:t>
            </a:r>
          </a:p>
        </p:txBody>
      </p:sp>
      <p:sp>
        <p:nvSpPr>
          <p:cNvPr id="6" name="Rounded Rectangle 5"/>
          <p:cNvSpPr/>
          <p:nvPr/>
        </p:nvSpPr>
        <p:spPr>
          <a:xfrm>
            <a:off x="731520" y="1371600"/>
            <a:ext cx="10728655" cy="4846320"/>
          </a:xfrm>
          <a:prstGeom prst="roundRect">
            <a:avLst/>
          </a:prstGeom>
          <a:solidFill>
            <a:srgbClr val="F4F6F9"/>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80015" cy="4480560"/>
          </a:xfrm>
          <a:prstGeom prst="rect">
            <a:avLst/>
          </a:prstGeom>
          <a:noFill/>
        </p:spPr>
        <p:txBody>
          <a:bodyPr wrap="square">
            <a:spAutoFit/>
          </a:bodyPr>
          <a:lstStyle/>
          <a:p>
            <a:pPr>
              <a:defRPr sz="1400" b="1">
                <a:solidFill>
                  <a:srgbClr val="003366"/>
                </a:solidFill>
              </a:defRPr>
            </a:pPr>
            <a:r>
              <a:t>Value Delivered &amp; Future Automation Roadmap</a:t>
            </a:r>
          </a:p>
          <a:p>
            <a:pPr>
              <a:defRPr sz="1100">
                <a:solidFill>
                  <a:srgbClr val="222222"/>
                </a:solidFill>
              </a:defRPr>
            </a:pPr>
            <a:r>
              <a:t>• 1. Quantifiable ROI: 89.8% time savings on regression testing (reduced from 18 minutes to 1 min 50 seconds), saving significant manual QA hours per release cycle.</a:t>
            </a:r>
            <a:br/>
          </a:p>
          <a:p>
            <a:pPr>
              <a:defRPr sz="1100">
                <a:solidFill>
                  <a:srgbClr val="222222"/>
                </a:solidFill>
              </a:defRPr>
            </a:pPr>
            <a:r>
              <a:t>• 2. Quality Assurance Guardrails: Continuous automated regression guardrails for Phase 2 defects D-01 (Empty Cart Checkout) and D-02 (Weak Input Rules).</a:t>
            </a:r>
            <a:br/>
          </a:p>
          <a:p>
            <a:pPr>
              <a:defRPr sz="1100">
                <a:solidFill>
                  <a:srgbClr val="222222"/>
                </a:solidFill>
              </a:defRPr>
            </a:pPr>
            <a:r>
              <a:t>• 3. Future Cross-Browser Grid: Expand test execution matrix across Firefox, Edge, and Safari using Selenium Grid / Docker containers.</a:t>
            </a:r>
            <a:br/>
          </a:p>
          <a:p>
            <a:pPr>
              <a:defRPr sz="1100">
                <a:solidFill>
                  <a:srgbClr val="222222"/>
                </a:solidFill>
              </a:defRPr>
            </a:pPr>
            <a:r>
              <a:t>• 4. Application Development Recommendations: Recommend SauceDemo development team implement client-side empty cart validation (#checkout button disable) and postal code regex format constraints.</a:t>
            </a:r>
            <a:b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3366"/>
          </a:solidFill>
          <a:ln>
            <a:solidFill>
              <a:srgbClr val="0033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008080"/>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11094415" cy="822960"/>
          </a:xfrm>
          <a:prstGeom prst="rect">
            <a:avLst/>
          </a:prstGeom>
          <a:noFill/>
        </p:spPr>
        <p:txBody>
          <a:bodyPr wrap="square">
            <a:spAutoFit/>
          </a:bodyPr>
          <a:lstStyle/>
          <a:p>
            <a:pPr>
              <a:defRPr sz="1000" b="1">
                <a:solidFill>
                  <a:srgbClr val="008080"/>
                </a:solidFill>
              </a:defRPr>
            </a:pPr>
            <a:r>
              <a:t>CST8513: QUALITY ASSURANCE &amp; TESTING</a:t>
            </a:r>
          </a:p>
          <a:p>
            <a:pPr>
              <a:defRPr sz="2200" b="1">
                <a:solidFill>
                  <a:srgbClr val="FFFFFF"/>
                </a:solidFill>
              </a:defRPr>
            </a:pPr>
            <a:r>
              <a:t>Conclusion &amp; Questions</a:t>
            </a:r>
          </a:p>
        </p:txBody>
      </p:sp>
      <p:sp>
        <p:nvSpPr>
          <p:cNvPr id="5" name="TextBox 4"/>
          <p:cNvSpPr txBox="1"/>
          <p:nvPr/>
        </p:nvSpPr>
        <p:spPr>
          <a:xfrm>
            <a:off x="548640" y="6492240"/>
            <a:ext cx="11094415" cy="320040"/>
          </a:xfrm>
          <a:prstGeom prst="rect">
            <a:avLst/>
          </a:prstGeom>
          <a:noFill/>
        </p:spPr>
        <p:txBody>
          <a:bodyPr wrap="none">
            <a:spAutoFit/>
          </a:bodyPr>
          <a:lstStyle/>
          <a:p>
            <a:pPr>
              <a:defRPr sz="900">
                <a:solidFill>
                  <a:srgbClr val="787878"/>
                </a:solidFill>
              </a:defRPr>
            </a:pPr>
            <a:r>
              <a:t>SauceDemo QA Automation Project | Devangbhai Pandit &amp; Meet Ahalpara | Prof. Sharmista Datta | Slide 14 of 14</a:t>
            </a:r>
          </a:p>
        </p:txBody>
      </p:sp>
      <p:sp>
        <p:nvSpPr>
          <p:cNvPr id="6" name="Rounded Rectangle 5"/>
          <p:cNvSpPr/>
          <p:nvPr/>
        </p:nvSpPr>
        <p:spPr>
          <a:xfrm>
            <a:off x="731520" y="1371600"/>
            <a:ext cx="10728655" cy="4846320"/>
          </a:xfrm>
          <a:prstGeom prst="roundRect">
            <a:avLst/>
          </a:prstGeom>
          <a:solidFill>
            <a:srgbClr val="FFFFFF"/>
          </a:solidFill>
          <a:ln>
            <a:solidFill>
              <a:srgbClr val="008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1554480"/>
            <a:ext cx="10180015" cy="4480560"/>
          </a:xfrm>
          <a:prstGeom prst="rect">
            <a:avLst/>
          </a:prstGeom>
          <a:noFill/>
        </p:spPr>
        <p:txBody>
          <a:bodyPr wrap="square">
            <a:spAutoFit/>
          </a:bodyPr>
          <a:lstStyle/>
          <a:p>
            <a:pPr>
              <a:defRPr sz="1400" b="1">
                <a:solidFill>
                  <a:srgbClr val="008080"/>
                </a:solidFill>
              </a:defRPr>
            </a:pPr>
            <a:r>
              <a:t>Project Conclusion Summary</a:t>
            </a:r>
          </a:p>
          <a:p>
            <a:pPr>
              <a:defRPr sz="1200">
                <a:solidFill>
                  <a:srgbClr val="222222"/>
                </a:solidFill>
              </a:defRPr>
            </a:pPr>
            <a:r>
              <a:t>• Successfully synthesized Phase 1 (Proposal &amp; Scope), Phase 2 (Manual Testing &amp; Defects), and Phase 3 (Automated Testing &amp; CI/CD).</a:t>
            </a:r>
            <a:br/>
            <a:r>
              <a:t>• Achieved 100% Pass Rate across 36 test runs using Selenium Page Object Model &amp; Robot Framework.</a:t>
            </a:r>
            <a:br/>
            <a:r>
              <a:t>• Full CI/CD integration established with Jenkins and GitHub Actions.</a:t>
            </a:r>
            <a:br/>
            <a:br/>
            <a:r>
              <a:t>GitHub Repository: https://github.com/MeetAhalpara/QA-Test-Automation</a:t>
            </a:r>
            <a:br/>
            <a:br/>
            <a:r>
              <a:t>Thank you Professor Datta and class! We are happy to answer 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