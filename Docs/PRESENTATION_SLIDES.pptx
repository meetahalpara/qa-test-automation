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CST8513: Quality Assurance and Testing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Comprehensive Project Presentation: Phase 1, Phase 2 &amp; Phase 3 Synthesis</a:t>
            </a:r>
          </a:p>
        </p:txBody>
      </p:sp>
      <p:sp>
        <p:nvSpPr>
          <p:cNvPr id="3" name="Content Placeholder 2"/>
          <p:cNvSpPr>
            <a:spLocks noGrp="1"/>
          </p:cNvSpPr>
          <p:nvPr>
            <p:ph idx="1"/>
          </p:nvPr>
        </p:nvSpPr>
        <p:spPr/>
        <p:txBody>
          <a:bodyPr/>
          <a:lstStyle/>
          <a:p>
            <a:pPr lvl="0" indent="0" marL="0">
              <a:buNone/>
            </a:pPr>
            <a:r>
              <a:rPr b="1"/>
              <a:t>Target Application:</a:t>
            </a:r>
            <a:r>
              <a:rPr/>
              <a:t> SauceDemo (Swag Labs) - https://www.saucedemo.com/</a:t>
            </a:r>
            <a:br/>
            <a:r>
              <a:rPr b="1"/>
              <a:t>Students:</a:t>
            </a:r>
            <a:r>
              <a:rPr/>
              <a:t> Devangbhai Pandit &amp; Meet Ahalpara</a:t>
            </a:r>
            <a:br/>
            <a:r>
              <a:rPr b="1"/>
              <a:t>Professor:</a:t>
            </a:r>
            <a:r>
              <a:rPr/>
              <a:t> Prof. Sharmista Datta</a:t>
            </a:r>
            <a:br/>
            <a:r>
              <a:rPr b="1"/>
              <a:t>Course:</a:t>
            </a:r>
            <a:r>
              <a:rPr/>
              <a:t> CST8513 – Quality Assurance and Testing</a:t>
            </a:r>
            <a:br/>
            <a:r>
              <a:rPr b="1"/>
              <a:t>Institution:</a:t>
            </a:r>
            <a:r>
              <a:rPr/>
              <a:t> Algonquin College – School of Advanced Technology</a:t>
            </a:r>
            <a:br/>
            <a:r>
              <a:rPr b="1"/>
              <a:t>Presentation &amp; Submission Date:</a:t>
            </a:r>
            <a:r>
              <a:rPr/>
              <a:t> August 13, 2026</a:t>
            </a:r>
            <a:br/>
            <a:r>
              <a:rPr b="1"/>
              <a:t>GitHub Repository:</a:t>
            </a:r>
            <a:r>
              <a:rPr/>
              <a:t> https://github.com/MeetAhalpara/QA-Test-Automation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Title Slide</a:t>
            </a:r>
          </a:p>
        </p:txBody>
      </p:sp>
      <p:sp>
        <p:nvSpPr>
          <p:cNvPr id="3" name="Content Placeholder 2"/>
          <p:cNvSpPr>
            <a:spLocks noGrp="1"/>
          </p:cNvSpPr>
          <p:nvPr>
            <p:ph idx="1"/>
          </p:nvPr>
        </p:nvSpPr>
        <p:spPr/>
        <p:txBody>
          <a:bodyPr/>
          <a:lstStyle/>
          <a:p>
            <a:pPr lvl="0"/>
            <a:r>
              <a:rPr b="1"/>
              <a:t>Title:</a:t>
            </a:r>
            <a:r>
              <a:rPr/>
              <a:t> SauceDemo Test Automation &amp; Quality Assurance Project</a:t>
            </a:r>
          </a:p>
          <a:p>
            <a:pPr lvl="0"/>
            <a:r>
              <a:rPr b="1"/>
              <a:t>Subtitle:</a:t>
            </a:r>
            <a:r>
              <a:rPr/>
              <a:t> Comprehensive Synthesis of Project I, Project II &amp; Project III (Automation Testing)</a:t>
            </a:r>
          </a:p>
          <a:p>
            <a:pPr lvl="0"/>
            <a:r>
              <a:rPr b="1"/>
              <a:t>Course:</a:t>
            </a:r>
            <a:r>
              <a:rPr/>
              <a:t> CST8513 – Quality Assurance and Testing</a:t>
            </a:r>
          </a:p>
          <a:p>
            <a:pPr lvl="0"/>
            <a:r>
              <a:rPr b="1"/>
              <a:t>Presented By:</a:t>
            </a:r>
            <a:r>
              <a:rPr/>
              <a:t> Devangbhai Pandit &amp; Meet Ahalpara</a:t>
            </a:r>
          </a:p>
          <a:p>
            <a:pPr lvl="0"/>
            <a:r>
              <a:rPr b="1"/>
              <a:t>Submitted To:</a:t>
            </a:r>
            <a:r>
              <a:rPr/>
              <a:t> Prof. Sharmista Datta</a:t>
            </a:r>
          </a:p>
          <a:p>
            <a:pPr lvl="0"/>
            <a:r>
              <a:rPr b="1"/>
              <a:t>Institution:</a:t>
            </a:r>
            <a:r>
              <a:rPr/>
              <a:t> Algonquin College, School of Advanced Technology</a:t>
            </a:r>
          </a:p>
          <a:p>
            <a:pPr lvl="0"/>
            <a:r>
              <a:rPr b="1"/>
              <a:t>Date:</a:t>
            </a:r>
            <a:r>
              <a:rPr/>
              <a:t> August 13, 2026</a:t>
            </a:r>
          </a:p>
          <a:p>
            <a:pPr lvl="0"/>
            <a:r>
              <a:rPr b="1"/>
              <a:t>Speaker Notes:</a:t>
            </a:r>
            <a:r>
              <a:rPr/>
              <a:t> “Good morning/afternoon Professor Datta and classmates. Today Devangbhai and I are presenting our complete Quality Assurance project for SauceDemo, covering our end-to-end journey across Phase 1 Proposal, Phase 2 Manual Testing, and Phase 3 Automated Testing.”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Executive Summary &amp; Project Progression</a:t>
            </a:r>
          </a:p>
        </p:txBody>
      </p:sp>
      <p:sp>
        <p:nvSpPr>
          <p:cNvPr id="3" name="Content Placeholder 2"/>
          <p:cNvSpPr>
            <a:spLocks noGrp="1"/>
          </p:cNvSpPr>
          <p:nvPr>
            <p:ph idx="1"/>
          </p:nvPr>
        </p:nvSpPr>
        <p:spPr/>
        <p:txBody>
          <a:bodyPr/>
          <a:lstStyle/>
          <a:p>
            <a:pPr lvl="0"/>
            <a:r>
              <a:rPr b="1"/>
              <a:t>Phase 1 (Requirements &amp; Scope):</a:t>
            </a:r>
            <a:r>
              <a:rPr/>
              <a:t> Identified e-commerce business flows and defined 14 functional requirements (FR-01 to FR-14).</a:t>
            </a:r>
          </a:p>
          <a:p>
            <a:pPr lvl="0"/>
            <a:r>
              <a:rPr b="1"/>
              <a:t>Phase 2 (Manual Testing &amp; Defects):</a:t>
            </a:r>
            <a:r>
              <a:rPr/>
              <a:t> Developed 14 test cases (TC-01 to TC-14), executed manual tests achieving an 85.7% pass rate, and logged 2 functional defects (D-01 and D-02).</a:t>
            </a:r>
          </a:p>
          <a:p>
            <a:pPr lvl="0"/>
            <a:r>
              <a:rPr b="1"/>
              <a:t>Phase 3 (Automation &amp; CI/CD - Current):</a:t>
            </a:r>
            <a:r>
              <a:rPr/>
              <a:t> Automated 100% of test cases using Selenium WebDriver (Page Object Model) and Robot Framework. Achieved a </a:t>
            </a:r>
            <a:r>
              <a:rPr b="1"/>
              <a:t>100% Pass Rate (36/36 tests passing)</a:t>
            </a:r>
            <a:r>
              <a:rPr/>
              <a:t> and reduced regression time by </a:t>
            </a:r>
            <a:r>
              <a:rPr b="1"/>
              <a:t>89.8% (from 18 minutes to 1 min 50 sec)</a:t>
            </a:r>
            <a:r>
              <a:rPr/>
              <a:t>.</a:t>
            </a:r>
          </a:p>
          <a:p>
            <a:pPr lvl="0"/>
            <a:r>
              <a:rPr b="1"/>
              <a:t>Mandatory Live Demo:</a:t>
            </a:r>
            <a:r>
              <a:rPr/>
              <a:t> Integrated command-line test runners, headed browser mode, and interactive HTML report generation.</a:t>
            </a:r>
          </a:p>
          <a:p>
            <a:pPr lvl="0"/>
            <a:r>
              <a:rPr b="1"/>
              <a:t>Speaker Notes:</a:t>
            </a:r>
            <a:r>
              <a:rPr/>
              <a:t> “This slide shows our 3-phase journey. In Phase 1 we mapped requirements, in Phase 2 we manually found defects, and in Phase 3 we turned those manual tests into a fully automated CI/CD pipeline running in under 2 minutes.”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Project I Summary – Requirements Analysis &amp; Scope</a:t>
            </a:r>
          </a:p>
        </p:txBody>
      </p:sp>
      <p:sp>
        <p:nvSpPr>
          <p:cNvPr id="3" name="Content Placeholder 2"/>
          <p:cNvSpPr>
            <a:spLocks noGrp="1"/>
          </p:cNvSpPr>
          <p:nvPr>
            <p:ph idx="1"/>
          </p:nvPr>
        </p:nvSpPr>
        <p:spPr/>
        <p:txBody>
          <a:bodyPr/>
          <a:lstStyle/>
          <a:p>
            <a:pPr lvl="0"/>
            <a:r>
              <a:rPr b="1"/>
              <a:t>Target Application:</a:t>
            </a:r>
            <a:r>
              <a:rPr/>
              <a:t> SauceDemo (Swag Labs e-commerce platform by Sauce Labs).</a:t>
            </a:r>
          </a:p>
          <a:p>
            <a:pPr lvl="0"/>
            <a:r>
              <a:rPr b="1"/>
              <a:t>14 Core Functional Requirements (FR-01 to FR-14):</a:t>
            </a:r>
          </a:p>
          <a:p>
            <a:pPr lvl="1"/>
            <a:r>
              <a:rPr i="1"/>
              <a:t>Authentication:</a:t>
            </a:r>
            <a:r>
              <a:rPr/>
              <a:t> User login (FR-01), error messaging (FR-02), secure session logout (FR-14).</a:t>
            </a:r>
          </a:p>
          <a:p>
            <a:pPr lvl="1"/>
            <a:r>
              <a:rPr i="1"/>
              <a:t>Catalog &amp; Product Browsing:</a:t>
            </a:r>
            <a:r>
              <a:rPr/>
              <a:t> Product grid display (FR-03), 4-way dynamic sorting (FR-04), detailed specifications view (FR-05).</a:t>
            </a:r>
          </a:p>
          <a:p>
            <a:pPr lvl="1"/>
            <a:r>
              <a:rPr i="1"/>
              <a:t>Cart Operations:</a:t>
            </a:r>
            <a:r>
              <a:rPr/>
              <a:t> Add to cart from inventory/details (FR-06), remove from cart (FR-07), cart item review (FR-08).</a:t>
            </a:r>
          </a:p>
          <a:p>
            <a:pPr lvl="1"/>
            <a:r>
              <a:rPr i="1"/>
              <a:t>Checkout &amp; Financial Calculation:</a:t>
            </a:r>
            <a:r>
              <a:rPr/>
              <a:t> Required customer fields (FR-09), input validation rules (FR-10), Subtotal + 8% Tax == Total calculation (FR-11), order confirmation (FR-12), cancellation redirection (FR-13).</a:t>
            </a:r>
          </a:p>
          <a:p>
            <a:pPr lvl="0"/>
            <a:r>
              <a:rPr b="1"/>
              <a:t>Speaker Notes:</a:t>
            </a:r>
            <a:r>
              <a:rPr/>
              <a:t> “In Project I, we thoroughly analyzed SauceDemo and established 14 functional requirements covering the end-to-end e-commerce purchasing workflow from authentication to order confirmation.”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Project II Summary – Manual Testing Strategy</a:t>
            </a:r>
          </a:p>
        </p:txBody>
      </p:sp>
      <p:sp>
        <p:nvSpPr>
          <p:cNvPr id="3" name="Content Placeholder 2"/>
          <p:cNvSpPr>
            <a:spLocks noGrp="1"/>
          </p:cNvSpPr>
          <p:nvPr>
            <p:ph idx="1"/>
          </p:nvPr>
        </p:nvSpPr>
        <p:spPr/>
        <p:txBody>
          <a:bodyPr/>
          <a:lstStyle/>
          <a:p>
            <a:pPr lvl="0"/>
            <a:r>
              <a:rPr b="1"/>
              <a:t>Manual Test Execution:</a:t>
            </a:r>
            <a:r>
              <a:rPr/>
              <a:t> Executed 14 manual functional test cases (TC-01 to TC-14) in Google Chrome.</a:t>
            </a:r>
          </a:p>
          <a:p>
            <a:pPr lvl="0"/>
            <a:r>
              <a:rPr b="1"/>
              <a:t>Traceability Mapping:</a:t>
            </a:r>
            <a:r>
              <a:rPr/>
              <a:t> Every manual test case mapped 1-to-1 with functional requirements FR-01 through FR-14.</a:t>
            </a:r>
          </a:p>
          <a:p>
            <a:pPr lvl="0"/>
            <a:r>
              <a:rPr b="1"/>
              <a:t>Manual Execution Duration:</a:t>
            </a:r>
            <a:r>
              <a:rPr/>
              <a:t> Total execution time required </a:t>
            </a:r>
            <a:r>
              <a:rPr b="1"/>
              <a:t>18 minutes (~1,080 seconds)</a:t>
            </a:r>
            <a:r>
              <a:rPr/>
              <a:t> across all test cases (~77.1 seconds per test case).</a:t>
            </a:r>
          </a:p>
          <a:p>
            <a:pPr lvl="0"/>
            <a:r>
              <a:rPr b="1"/>
              <a:t>Manual Verification Scope:</a:t>
            </a:r>
            <a:r>
              <a:rPr/>
              <a:t> Manually verified text inputs, dropdown selections, cart badge counts, math tax calculations, button toggles, and URL redirections.</a:t>
            </a:r>
          </a:p>
          <a:p>
            <a:pPr lvl="0"/>
            <a:r>
              <a:rPr b="1"/>
              <a:t>Speaker Notes:</a:t>
            </a:r>
            <a:r>
              <a:rPr/>
              <a:t> “In Project II, we manually executed all 14 test cases. While manual testing allowed us to explore the UI, it required 18 full minutes of active human interaction for a single test cycle.”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Project II Findings – Manual Results &amp; Defect Reporting</a:t>
            </a:r>
          </a:p>
        </p:txBody>
      </p:sp>
      <p:sp>
        <p:nvSpPr>
          <p:cNvPr id="3" name="Content Placeholder 2"/>
          <p:cNvSpPr>
            <a:spLocks noGrp="1"/>
          </p:cNvSpPr>
          <p:nvPr>
            <p:ph idx="1"/>
          </p:nvPr>
        </p:nvSpPr>
        <p:spPr/>
        <p:txBody>
          <a:bodyPr/>
          <a:lstStyle/>
          <a:p>
            <a:pPr lvl="0"/>
            <a:r>
              <a:rPr b="1"/>
              <a:t>Manual Execution Results:</a:t>
            </a:r>
          </a:p>
          <a:p>
            <a:pPr lvl="1"/>
            <a:r>
              <a:rPr/>
              <a:t>Total Manual Test Cases: 14</a:t>
            </a:r>
          </a:p>
          <a:p>
            <a:pPr lvl="1"/>
            <a:r>
              <a:rPr/>
              <a:t>Passed: 12 (85.7% Pass Rate)</a:t>
            </a:r>
          </a:p>
          <a:p>
            <a:pPr lvl="1"/>
            <a:r>
              <a:rPr/>
              <a:t>Failed: 2 (14.3% Failure Rate)</a:t>
            </a:r>
          </a:p>
          <a:p>
            <a:pPr lvl="0"/>
            <a:r>
              <a:rPr b="1"/>
              <a:t>Formally Documented Defects:</a:t>
            </a:r>
          </a:p>
          <a:p>
            <a:pPr lvl="1"/>
            <a:r>
              <a:rPr b="1"/>
              <a:t>Defect D-01 (Severity: High):</a:t>
            </a:r>
            <a:r>
              <a:rPr/>
              <a:t> </a:t>
            </a:r>
            <a:r>
              <a:rPr i="1"/>
              <a:t>Empty Cart Checkout Allowed</a:t>
            </a:r>
            <a:r>
              <a:rPr/>
              <a:t> — SauceDemo allows users to navigate to </a:t>
            </a:r>
            <a:r>
              <a:rPr>
                <a:latin typeface="Courier"/>
              </a:rPr>
              <a:t>/cart.html</a:t>
            </a:r>
            <a:r>
              <a:rPr/>
              <a:t> with 0 items and proceed through the entire checkout workflow.</a:t>
            </a:r>
          </a:p>
          <a:p>
            <a:pPr lvl="1"/>
            <a:r>
              <a:rPr b="1"/>
              <a:t>Defect D-02 (Severity: Medium):</a:t>
            </a:r>
            <a:r>
              <a:rPr/>
              <a:t> </a:t>
            </a:r>
            <a:r>
              <a:rPr i="1"/>
              <a:t>Inadequate Input Field Validation</a:t>
            </a:r>
            <a:r>
              <a:rPr/>
              <a:t> — Checkout customer information fields accept single-character inputs (</a:t>
            </a:r>
            <a:r>
              <a:rPr>
                <a:latin typeface="Courier"/>
              </a:rPr>
              <a:t>"a"</a:t>
            </a:r>
            <a:r>
              <a:rPr/>
              <a:t>, </a:t>
            </a:r>
            <a:r>
              <a:rPr>
                <a:latin typeface="Courier"/>
              </a:rPr>
              <a:t>"1"</a:t>
            </a:r>
            <a:r>
              <a:rPr/>
              <a:t>, </a:t>
            </a:r>
            <a:r>
              <a:rPr>
                <a:latin typeface="Courier"/>
              </a:rPr>
              <a:t>"!"</a:t>
            </a:r>
            <a:r>
              <a:rPr/>
              <a:t>) without length or postal format validation.</a:t>
            </a:r>
          </a:p>
          <a:p>
            <a:pPr lvl="0"/>
            <a:r>
              <a:rPr b="1"/>
              <a:t>Speaker Notes:</a:t>
            </a:r>
            <a:r>
              <a:rPr/>
              <a:t> “Manual testing uncovered 2 key application defects: D-01, where an empty cart can proceed to checkout, and D-02, where checkout forms accept single-character inputs. These formed our baseline for Phase 3 automation.”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Project III Summary – Automation Strategy &amp; Stack</a:t>
            </a:r>
          </a:p>
        </p:txBody>
      </p:sp>
      <p:sp>
        <p:nvSpPr>
          <p:cNvPr id="3" name="Content Placeholder 2"/>
          <p:cNvSpPr>
            <a:spLocks noGrp="1"/>
          </p:cNvSpPr>
          <p:nvPr>
            <p:ph idx="1"/>
          </p:nvPr>
        </p:nvSpPr>
        <p:spPr/>
        <p:txBody>
          <a:bodyPr/>
          <a:lstStyle/>
          <a:p>
            <a:pPr lvl="0"/>
            <a:r>
              <a:rPr b="1"/>
              <a:t>Automation Tools &amp; Frameworks:</a:t>
            </a:r>
          </a:p>
          <a:p>
            <a:pPr lvl="1"/>
            <a:r>
              <a:rPr b="1"/>
              <a:t>Core Language:</a:t>
            </a:r>
            <a:r>
              <a:rPr/>
              <a:t> Python 3.11</a:t>
            </a:r>
          </a:p>
          <a:p>
            <a:pPr lvl="1"/>
            <a:r>
              <a:rPr b="1"/>
              <a:t>Selenium WebDriver 4.47:</a:t>
            </a:r>
            <a:r>
              <a:rPr/>
              <a:t> Core automation engine for web browser manipulation.</a:t>
            </a:r>
          </a:p>
          <a:p>
            <a:pPr lvl="1"/>
            <a:r>
              <a:rPr b="1"/>
              <a:t>Pytest 9.1:</a:t>
            </a:r>
            <a:r>
              <a:rPr/>
              <a:t> Test runner, fixture management, parameterization, and reporting.</a:t>
            </a:r>
          </a:p>
          <a:p>
            <a:pPr lvl="1"/>
            <a:r>
              <a:rPr b="1"/>
              <a:t>Robot Framework 7.4:</a:t>
            </a:r>
            <a:r>
              <a:rPr/>
              <a:t> Keyword-driven test automation suite with SeleniumLibrary.</a:t>
            </a:r>
          </a:p>
          <a:p>
            <a:pPr lvl="1"/>
            <a:r>
              <a:rPr b="1"/>
              <a:t>Pytest-HTML:</a:t>
            </a:r>
            <a:r>
              <a:rPr/>
              <a:t> Self-contained interactive HTML test report generator.</a:t>
            </a:r>
          </a:p>
          <a:p>
            <a:pPr lvl="0"/>
            <a:r>
              <a:rPr b="1"/>
              <a:t>Execution Modes:</a:t>
            </a:r>
          </a:p>
          <a:p>
            <a:pPr lvl="1"/>
            <a:r>
              <a:rPr i="1"/>
              <a:t>Headed Mode:</a:t>
            </a:r>
            <a:r>
              <a:rPr/>
              <a:t> Visible browser animation for live presentations and debugging.</a:t>
            </a:r>
          </a:p>
          <a:p>
            <a:pPr lvl="1"/>
            <a:r>
              <a:rPr i="1"/>
              <a:t>Headless Mode:</a:t>
            </a:r>
            <a:r>
              <a:rPr/>
              <a:t> Background headless Chrome execution optimized for speed and CI/CD pipelines.</a:t>
            </a:r>
          </a:p>
          <a:p>
            <a:pPr lvl="0"/>
            <a:r>
              <a:rPr b="1"/>
              <a:t>Speaker Notes:</a:t>
            </a:r>
            <a:r>
              <a:rPr/>
              <a:t> “For Project III, we selected Python, Selenium WebDriver, Pytest, and Robot Framework. This dual-framework approach gave us both code-based Page Object Model testing and business-readable keyword testing.”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Page Object Model (POM) Architecture</a:t>
            </a:r>
          </a:p>
        </p:txBody>
      </p:sp>
      <p:sp>
        <p:nvSpPr>
          <p:cNvPr id="3" name="Content Placeholder 2"/>
          <p:cNvSpPr>
            <a:spLocks noGrp="1"/>
          </p:cNvSpPr>
          <p:nvPr>
            <p:ph idx="1"/>
          </p:nvPr>
        </p:nvSpPr>
        <p:spPr/>
        <p:txBody>
          <a:bodyPr/>
          <a:lstStyle/>
          <a:p>
            <a:pPr lvl="0"/>
            <a:r>
              <a:rPr b="1"/>
              <a:t>Design Pattern Principles:</a:t>
            </a:r>
            <a:r>
              <a:rPr/>
              <a:t> Decouples element locators and UI interaction methods from test assertions.</a:t>
            </a:r>
          </a:p>
          <a:p>
            <a:pPr lvl="0"/>
            <a:r>
              <a:rPr b="1"/>
              <a:t>Core Architecture Layers:</a:t>
            </a:r>
          </a:p>
          <a:p>
            <a:pPr lvl="1"/>
            <a:r>
              <a:rPr>
                <a:latin typeface="Courier"/>
              </a:rPr>
              <a:t>BasePage</a:t>
            </a:r>
            <a:r>
              <a:rPr/>
              <a:t> (</a:t>
            </a:r>
            <a:r>
              <a:rPr>
                <a:latin typeface="Courier"/>
              </a:rPr>
              <a:t>automation_selenium/pages/base_page.py</a:t>
            </a:r>
            <a:r>
              <a:rPr/>
              <a:t>): Reusable parent class providing explicit waits (</a:t>
            </a:r>
            <a:r>
              <a:rPr>
                <a:latin typeface="Courier"/>
              </a:rPr>
              <a:t>WebDriverWait</a:t>
            </a:r>
            <a:r>
              <a:rPr/>
              <a:t>), safe JavaScript clicks, React state synchronization, and screenshot capture.</a:t>
            </a:r>
          </a:p>
          <a:p>
            <a:pPr lvl="1"/>
            <a:r>
              <a:rPr>
                <a:latin typeface="Courier"/>
              </a:rPr>
              <a:t>Page Object Classes</a:t>
            </a:r>
            <a:r>
              <a:rPr/>
              <a:t> (</a:t>
            </a:r>
            <a:r>
              <a:rPr>
                <a:latin typeface="Courier"/>
              </a:rPr>
              <a:t>automation_selenium/pages/*.py</a:t>
            </a:r>
            <a:r>
              <a:rPr/>
              <a:t>): 7 dedicated page classes (</a:t>
            </a:r>
            <a:r>
              <a:rPr>
                <a:latin typeface="Courier"/>
              </a:rPr>
              <a:t>LoginPage</a:t>
            </a:r>
            <a:r>
              <a:rPr/>
              <a:t>, </a:t>
            </a:r>
            <a:r>
              <a:rPr>
                <a:latin typeface="Courier"/>
              </a:rPr>
              <a:t>InventoryPage</a:t>
            </a:r>
            <a:r>
              <a:rPr/>
              <a:t>, </a:t>
            </a:r>
            <a:r>
              <a:rPr>
                <a:latin typeface="Courier"/>
              </a:rPr>
              <a:t>ProductDetailsPage</a:t>
            </a:r>
            <a:r>
              <a:rPr/>
              <a:t>, </a:t>
            </a:r>
            <a:r>
              <a:rPr>
                <a:latin typeface="Courier"/>
              </a:rPr>
              <a:t>CartPage</a:t>
            </a:r>
            <a:r>
              <a:rPr/>
              <a:t>, </a:t>
            </a:r>
            <a:r>
              <a:rPr>
                <a:latin typeface="Courier"/>
              </a:rPr>
              <a:t>CheckoutStepOnePage</a:t>
            </a:r>
            <a:r>
              <a:rPr/>
              <a:t>, </a:t>
            </a:r>
            <a:r>
              <a:rPr>
                <a:latin typeface="Courier"/>
              </a:rPr>
              <a:t>CheckoutStepTwoPage</a:t>
            </a:r>
            <a:r>
              <a:rPr/>
              <a:t>, </a:t>
            </a:r>
            <a:r>
              <a:rPr>
                <a:latin typeface="Courier"/>
              </a:rPr>
              <a:t>CheckoutCompletePage</a:t>
            </a:r>
            <a:r>
              <a:rPr/>
              <a:t>).</a:t>
            </a:r>
          </a:p>
          <a:p>
            <a:pPr lvl="1"/>
            <a:r>
              <a:rPr>
                <a:latin typeface="Courier"/>
              </a:rPr>
              <a:t>Test Suites</a:t>
            </a:r>
            <a:r>
              <a:rPr/>
              <a:t> (</a:t>
            </a:r>
            <a:r>
              <a:rPr>
                <a:latin typeface="Courier"/>
              </a:rPr>
              <a:t>automation_selenium/tests/*.py</a:t>
            </a:r>
            <a:r>
              <a:rPr/>
              <a:t>): Pure assertion test files containing zero hardcoded locators.</a:t>
            </a:r>
          </a:p>
          <a:p>
            <a:pPr lvl="0"/>
            <a:r>
              <a:rPr b="1"/>
              <a:t>Key Advantage:</a:t>
            </a:r>
            <a:r>
              <a:rPr/>
              <a:t> Single-point locator maintenance. If SauceDemo HTML changes, only 1 Page file is updated without touching test scripts.</a:t>
            </a:r>
          </a:p>
          <a:p>
            <a:pPr lvl="0"/>
            <a:r>
              <a:rPr b="1"/>
              <a:t>Speaker Notes:</a:t>
            </a:r>
            <a:r>
              <a:rPr/>
              <a:t> “Our Selenium architecture follows the Page Object Model strictly. Locators are isolated inside Page classes. If an HTML ID changes tomorrow, we update one line in the Page class and zero test files break.”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Project III Execution Results – 100% Pass Rate</a:t>
            </a:r>
          </a:p>
        </p:txBody>
      </p:sp>
      <p:sp>
        <p:nvSpPr>
          <p:cNvPr id="3" name="Content Placeholder 2"/>
          <p:cNvSpPr>
            <a:spLocks noGrp="1"/>
          </p:cNvSpPr>
          <p:nvPr>
            <p:ph idx="1"/>
          </p:nvPr>
        </p:nvSpPr>
        <p:spPr/>
        <p:txBody>
          <a:bodyPr/>
          <a:lstStyle/>
          <a:p>
            <a:pPr lvl="0"/>
            <a:r>
              <a:rPr b="1"/>
              <a:t>Consolidated Automation Summary:</a:t>
            </a:r>
          </a:p>
          <a:p>
            <a:pPr lvl="1"/>
            <a:r>
              <a:rPr b="1"/>
              <a:t>Selenium WebDriver (Pytest):</a:t>
            </a:r>
            <a:r>
              <a:rPr/>
              <a:t> 22 Scenarios Executed | 22 Passed (100% Pass Rate) | Time: 110.58s</a:t>
            </a:r>
          </a:p>
          <a:p>
            <a:pPr lvl="1"/>
            <a:r>
              <a:rPr b="1"/>
              <a:t>Robot Framework:</a:t>
            </a:r>
            <a:r>
              <a:rPr/>
              <a:t> 14 Scenarios Executed | 14 Passed (100% Pass Rate) | Time: 45.22s</a:t>
            </a:r>
          </a:p>
          <a:p>
            <a:pPr lvl="1"/>
            <a:r>
              <a:rPr b="1"/>
              <a:t>Total Automated Scenarios:</a:t>
            </a:r>
            <a:r>
              <a:rPr/>
              <a:t> 36 Scenarios | </a:t>
            </a:r>
            <a:r>
              <a:rPr b="1"/>
              <a:t>36 Passed (100% Pass Rate)</a:t>
            </a:r>
          </a:p>
          <a:p>
            <a:pPr lvl="0"/>
            <a:r>
              <a:rPr b="1"/>
              <a:t>Test Suite Breakdown:</a:t>
            </a:r>
          </a:p>
          <a:p>
            <a:pPr lvl="1"/>
            <a:r>
              <a:rPr>
                <a:latin typeface="Courier"/>
              </a:rPr>
              <a:t>test_authentication.py</a:t>
            </a:r>
            <a:r>
              <a:rPr/>
              <a:t>: TC-01 (Valid Login), TC-02 (4 Negative Combinations), TC-14 (Logout).</a:t>
            </a:r>
          </a:p>
          <a:p>
            <a:pPr lvl="1"/>
            <a:r>
              <a:rPr>
                <a:latin typeface="Courier"/>
              </a:rPr>
              <a:t>test_inventory.py</a:t>
            </a:r>
            <a:r>
              <a:rPr/>
              <a:t>: TC-03 (Catalog Grid), TC-04 (4 Sort Options), TC-05 (Details View).</a:t>
            </a:r>
          </a:p>
          <a:p>
            <a:pPr lvl="1"/>
            <a:r>
              <a:rPr>
                <a:latin typeface="Courier"/>
              </a:rPr>
              <a:t>test_cart.py</a:t>
            </a:r>
            <a:r>
              <a:rPr/>
              <a:t>: TC-06 (Add to Cart), TC-07 (Remove from Cart), TC-08 (Cart Review).</a:t>
            </a:r>
          </a:p>
          <a:p>
            <a:pPr lvl="1"/>
            <a:r>
              <a:rPr>
                <a:latin typeface="Courier"/>
              </a:rPr>
              <a:t>test_checkout.py</a:t>
            </a:r>
            <a:r>
              <a:rPr/>
              <a:t>: TC-09 (Required Fields), TC-10 (Input Rules), TC-11 (Tax Calculation), TC-12 (Finish), TC-13 (Cancel).</a:t>
            </a:r>
          </a:p>
          <a:p>
            <a:pPr lvl="1"/>
            <a:r>
              <a:rPr>
                <a:latin typeface="Courier"/>
              </a:rPr>
              <a:t>test_e2e_workflow.py</a:t>
            </a:r>
            <a:r>
              <a:rPr/>
              <a:t>: Full 13-step End-to-End User Purchase Lifecycle.</a:t>
            </a:r>
          </a:p>
          <a:p>
            <a:pPr lvl="0"/>
            <a:r>
              <a:rPr b="1"/>
              <a:t>Speaker Notes:</a:t>
            </a:r>
            <a:r>
              <a:rPr/>
              <a:t> “We automated all 14 functional test cases plus negative parameterizations and a full E2E workflow. Both our Selenium and Robot Framework test suites achieved a 100% pass rate across 36 test runs.”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Slide 9: Discrepancies Analysis – Manual vs. Automated</a:t>
            </a:r>
          </a:p>
        </p:txBody>
      </p:sp>
      <p:sp>
        <p:nvSpPr>
          <p:cNvPr id="3" name="Content Placeholder 2"/>
          <p:cNvSpPr>
            <a:spLocks noGrp="1"/>
          </p:cNvSpPr>
          <p:nvPr>
            <p:ph idx="1"/>
          </p:nvPr>
        </p:nvSpPr>
        <p:spPr/>
        <p:txBody>
          <a:bodyPr/>
          <a:lstStyle/>
          <a:p>
            <a:pPr lvl="0"/>
            <a:r>
              <a:rPr b="1"/>
              <a:t>Execution Speed Comparison:</a:t>
            </a:r>
          </a:p>
          <a:p>
            <a:pPr lvl="1"/>
            <a:r>
              <a:rPr/>
              <a:t>Manual Testing (Phase 2): 18 minutes (~1,080 seconds).</a:t>
            </a:r>
          </a:p>
          <a:p>
            <a:pPr lvl="1"/>
            <a:r>
              <a:rPr/>
              <a:t>Automated Testing (Phase 3): 1 minute 50 seconds (110.58 seconds).</a:t>
            </a:r>
          </a:p>
          <a:p>
            <a:pPr lvl="1"/>
            <a:r>
              <a:rPr b="1"/>
              <a:t>Variance:</a:t>
            </a:r>
            <a:r>
              <a:rPr/>
              <a:t> </a:t>
            </a:r>
            <a:r>
              <a:rPr b="1"/>
              <a:t>89.8% Time Reduction (9.8x Faster)</a:t>
            </a:r>
            <a:r>
              <a:rPr/>
              <a:t>.</a:t>
            </a:r>
          </a:p>
          <a:p>
            <a:pPr lvl="0"/>
            <a:r>
              <a:rPr b="1"/>
              <a:t>Comparative Analysis:</a:t>
            </a:r>
          </a:p>
          <a:p>
            <a:pPr lvl="1"/>
            <a:r>
              <a:rPr i="1"/>
              <a:t>Human Labor Cost:</a:t>
            </a:r>
            <a:r>
              <a:rPr/>
              <a:t> Manual requires human effort every run; Automation runs at 0% labor cost.</a:t>
            </a:r>
          </a:p>
          <a:p>
            <a:pPr lvl="1"/>
            <a:r>
              <a:rPr i="1"/>
              <a:t>Repeatability:</a:t>
            </a:r>
            <a:r>
              <a:rPr/>
              <a:t> Manual is prone to human fatigue; Automation is 100% deterministic and exact.</a:t>
            </a:r>
          </a:p>
          <a:p>
            <a:pPr lvl="1"/>
            <a:r>
              <a:rPr i="1"/>
              <a:t>Defect Capture:</a:t>
            </a:r>
            <a:r>
              <a:rPr/>
              <a:t> Manual relies on human memory; Automation provides instant assertions and failure screenshots.</a:t>
            </a:r>
          </a:p>
          <a:p>
            <a:pPr lvl="1"/>
            <a:r>
              <a:rPr i="1"/>
              <a:t>CI/CD Readiness:</a:t>
            </a:r>
            <a:r>
              <a:rPr/>
              <a:t> Manual cannot integrate into CI/CD; Automation triggers automatically on code push.</a:t>
            </a:r>
          </a:p>
          <a:p>
            <a:pPr lvl="0"/>
            <a:r>
              <a:rPr b="1"/>
              <a:t>Speaker Notes:</a:t>
            </a:r>
            <a:r>
              <a:rPr/>
              <a:t> “Comparing manual vs automated testing shows an 89.8% time reduction. What took 18 minutes manually now runs automatically in under 2 minutes with zero human effort.”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Technical Discrepancies &amp; Resolutions</a:t>
            </a:r>
          </a:p>
        </p:txBody>
      </p:sp>
      <p:sp>
        <p:nvSpPr>
          <p:cNvPr id="3" name="Content Placeholder 2"/>
          <p:cNvSpPr>
            <a:spLocks noGrp="1"/>
          </p:cNvSpPr>
          <p:nvPr>
            <p:ph idx="1"/>
          </p:nvPr>
        </p:nvSpPr>
        <p:spPr/>
        <p:txBody>
          <a:bodyPr/>
          <a:lstStyle/>
          <a:p>
            <a:pPr lvl="0"/>
            <a:r>
              <a:rPr b="1"/>
              <a:t>Discrepancy 1: React Virtual DOM Mutation &amp; Stale Elements (TC-04):</a:t>
            </a:r>
          </a:p>
          <a:p>
            <a:pPr lvl="1"/>
            <a:r>
              <a:rPr i="1"/>
              <a:t>Issue:</a:t>
            </a:r>
            <a:r>
              <a:rPr/>
              <a:t> Sorting triggered React DOM re-rendering, causing </a:t>
            </a:r>
            <a:r>
              <a:rPr>
                <a:latin typeface="Courier"/>
              </a:rPr>
              <a:t>StaleElementReferenceException</a:t>
            </a:r>
            <a:r>
              <a:rPr/>
              <a:t>.</a:t>
            </a:r>
          </a:p>
          <a:p>
            <a:pPr lvl="1"/>
            <a:r>
              <a:rPr i="1"/>
              <a:t>Resolution:</a:t>
            </a:r>
            <a:r>
              <a:rPr/>
              <a:t> Implemented live JavaScript DOM array evaluation in </a:t>
            </a:r>
            <a:r>
              <a:rPr>
                <a:latin typeface="Courier"/>
              </a:rPr>
              <a:t>BasePage</a:t>
            </a:r>
            <a:r>
              <a:rPr/>
              <a:t> for atomic snapshot querying.</a:t>
            </a:r>
          </a:p>
          <a:p>
            <a:pPr lvl="0"/>
            <a:r>
              <a:rPr b="1"/>
              <a:t>Discrepancy 2: Controlled Input Component State Sync (TC-09, TC-10):</a:t>
            </a:r>
          </a:p>
          <a:p>
            <a:pPr lvl="1"/>
            <a:r>
              <a:rPr i="1"/>
              <a:t>Issue:</a:t>
            </a:r>
            <a:r>
              <a:rPr/>
              <a:t> Native </a:t>
            </a:r>
            <a:r>
              <a:rPr>
                <a:latin typeface="Courier"/>
              </a:rPr>
              <a:t>send_keys()</a:t>
            </a:r>
            <a:r>
              <a:rPr/>
              <a:t> in headless Chrome bypassed React internal state tracking (</a:t>
            </a:r>
            <a:r>
              <a:rPr>
                <a:latin typeface="Courier"/>
              </a:rPr>
              <a:t>_valueTracker</a:t>
            </a:r>
            <a:r>
              <a:rPr/>
              <a:t>).</a:t>
            </a:r>
          </a:p>
          <a:p>
            <a:pPr lvl="1"/>
            <a:r>
              <a:rPr i="1"/>
              <a:t>Resolution:</a:t>
            </a:r>
            <a:r>
              <a:rPr/>
              <a:t> Created React event helper dispatching synthetic </a:t>
            </a:r>
            <a:r>
              <a:rPr>
                <a:latin typeface="Courier"/>
              </a:rPr>
              <a:t>input</a:t>
            </a:r>
            <a:r>
              <a:rPr/>
              <a:t> and </a:t>
            </a:r>
            <a:r>
              <a:rPr>
                <a:latin typeface="Courier"/>
              </a:rPr>
              <a:t>change</a:t>
            </a:r>
            <a:r>
              <a:rPr/>
              <a:t> events in </a:t>
            </a:r>
            <a:r>
              <a:rPr>
                <a:latin typeface="Courier"/>
              </a:rPr>
              <a:t>BasePage.enter_text()</a:t>
            </a:r>
            <a:r>
              <a:rPr/>
              <a:t>.</a:t>
            </a:r>
          </a:p>
          <a:p>
            <a:pPr lvl="0"/>
            <a:r>
              <a:rPr b="1"/>
              <a:t>Discrepancy 3: Headless Text Extraction Discrepancy:</a:t>
            </a:r>
          </a:p>
          <a:p>
            <a:pPr lvl="1"/>
            <a:r>
              <a:rPr i="1"/>
              <a:t>Issue:</a:t>
            </a:r>
            <a:r>
              <a:rPr/>
              <a:t> Selenium </a:t>
            </a:r>
            <a:r>
              <a:rPr>
                <a:latin typeface="Courier"/>
              </a:rPr>
              <a:t>.text</a:t>
            </a:r>
            <a:r>
              <a:rPr/>
              <a:t> returned empty string on styled select labels in headless mode.</a:t>
            </a:r>
          </a:p>
          <a:p>
            <a:pPr lvl="1"/>
            <a:r>
              <a:rPr i="1"/>
              <a:t>Resolution:</a:t>
            </a:r>
            <a:r>
              <a:rPr/>
              <a:t> Standardized on direct </a:t>
            </a:r>
            <a:r>
              <a:rPr>
                <a:latin typeface="Courier"/>
              </a:rPr>
              <a:t>textContent</a:t>
            </a:r>
            <a:r>
              <a:rPr/>
              <a:t> extraction via JavaScript.</a:t>
            </a:r>
          </a:p>
          <a:p>
            <a:pPr lvl="0"/>
            <a:r>
              <a:rPr b="1"/>
              <a:t>Speaker Notes:</a:t>
            </a:r>
            <a:r>
              <a:rPr/>
              <a:t> “Transitioning to automation revealed technical DOM quirks. We resolved React virtual DOM stale element issues and controlled input state desynchronization using custom JavaScript helpers.”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Continuous Integration (CI/CD) Pipelines</a:t>
            </a:r>
          </a:p>
        </p:txBody>
      </p:sp>
      <p:sp>
        <p:nvSpPr>
          <p:cNvPr id="3" name="Content Placeholder 2"/>
          <p:cNvSpPr>
            <a:spLocks noGrp="1"/>
          </p:cNvSpPr>
          <p:nvPr>
            <p:ph idx="1"/>
          </p:nvPr>
        </p:nvSpPr>
        <p:spPr/>
        <p:txBody>
          <a:bodyPr/>
          <a:lstStyle/>
          <a:p>
            <a:pPr lvl="0"/>
            <a:r>
              <a:rPr b="1"/>
              <a:t>Jenkins Pipeline (</a:t>
            </a:r>
            <a:r>
              <a:rPr b="1">
                <a:latin typeface="Courier"/>
              </a:rPr>
              <a:t>ci_cd/Jenkinsfile</a:t>
            </a:r>
            <a:r>
              <a:rPr b="1"/>
              <a:t>):</a:t>
            </a:r>
          </a:p>
          <a:p>
            <a:pPr lvl="1"/>
            <a:r>
              <a:rPr/>
              <a:t>Multi-stage declarative pipeline: Checkout -&gt; Virtualenv Setup -&gt; Selenium Pytest Suite -&gt; Robot Framework Suite -&gt; Archive Reports &amp; JUnit XML.</a:t>
            </a:r>
          </a:p>
          <a:p>
            <a:pPr lvl="0"/>
            <a:r>
              <a:rPr b="1"/>
              <a:t>GitHub Actions Workflow (</a:t>
            </a:r>
            <a:r>
              <a:rPr b="1">
                <a:latin typeface="Courier"/>
              </a:rPr>
              <a:t>.github/workflows/automation-tests.yml</a:t>
            </a:r>
            <a:r>
              <a:rPr b="1"/>
              <a:t>):</a:t>
            </a:r>
          </a:p>
          <a:p>
            <a:pPr lvl="1"/>
            <a:r>
              <a:rPr/>
              <a:t>Automatically triggers on every </a:t>
            </a:r>
            <a:r>
              <a:rPr>
                <a:latin typeface="Courier"/>
              </a:rPr>
              <a:t>push</a:t>
            </a:r>
            <a:r>
              <a:rPr/>
              <a:t> and </a:t>
            </a:r>
            <a:r>
              <a:rPr>
                <a:latin typeface="Courier"/>
              </a:rPr>
              <a:t>pull_request</a:t>
            </a:r>
            <a:r>
              <a:rPr/>
              <a:t> to </a:t>
            </a:r>
            <a:r>
              <a:rPr>
                <a:latin typeface="Courier"/>
              </a:rPr>
              <a:t>main</a:t>
            </a:r>
            <a:r>
              <a:rPr/>
              <a:t>.</a:t>
            </a:r>
          </a:p>
          <a:p>
            <a:pPr lvl="1"/>
            <a:r>
              <a:rPr/>
              <a:t>Runs on Windows runner with Python 3.11 and headless Chrome.</a:t>
            </a:r>
          </a:p>
          <a:p>
            <a:pPr lvl="1"/>
            <a:r>
              <a:rPr/>
              <a:t>Automatically uploads HTML reports and screenshots as workflow run artifacts.</a:t>
            </a:r>
          </a:p>
          <a:p>
            <a:pPr lvl="0"/>
            <a:r>
              <a:rPr b="1"/>
              <a:t>Live Status:</a:t>
            </a:r>
            <a:r>
              <a:rPr/>
              <a:t> Fully verified and building green on GitHub Actions repository (</a:t>
            </a:r>
            <a:r>
              <a:rPr>
                <a:latin typeface="Courier"/>
              </a:rPr>
              <a:t>MeetAhalpara/QA-Test-Automation</a:t>
            </a:r>
            <a:r>
              <a:rPr/>
              <a:t>).</a:t>
            </a:r>
          </a:p>
          <a:p>
            <a:pPr lvl="0"/>
            <a:r>
              <a:rPr b="1"/>
              <a:t>Speaker Notes:</a:t>
            </a:r>
            <a:r>
              <a:rPr/>
              <a:t> “We integrated our automation suite into both Jenkins and GitHub Actions. Every time code is pushed to GitHub, our full regression suite executes automatically and publishes test artifacts.”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Live Demonstration Guide (Mandatory Demo)</a:t>
            </a:r>
          </a:p>
        </p:txBody>
      </p:sp>
      <p:sp>
        <p:nvSpPr>
          <p:cNvPr id="3" name="Content Placeholder 2"/>
          <p:cNvSpPr>
            <a:spLocks noGrp="1"/>
          </p:cNvSpPr>
          <p:nvPr>
            <p:ph idx="1"/>
          </p:nvPr>
        </p:nvSpPr>
        <p:spPr/>
        <p:txBody>
          <a:bodyPr/>
          <a:lstStyle/>
          <a:p>
            <a:pPr lvl="0"/>
            <a:r>
              <a:rPr b="1"/>
              <a:t>Demo Step 1: Headed Visual Execution (Watch Chrome Run):</a:t>
            </a:r>
          </a:p>
          <a:p>
            <a:pPr lvl="1"/>
            <a:r>
              <a:rPr/>
              <a:t>Command: </a:t>
            </a:r>
            <a:r>
              <a:rPr>
                <a:latin typeface="Courier"/>
              </a:rPr>
              <a:t>python -m pytest automation_selenium/tests/ --headed -v</a:t>
            </a:r>
          </a:p>
          <a:p>
            <a:pPr lvl="1"/>
            <a:r>
              <a:rPr i="1"/>
              <a:t>Action:</a:t>
            </a:r>
            <a:r>
              <a:rPr/>
              <a:t> Launches Google Chrome live on screen, executing login, catalog sorting, cart management, checkout form submission, and tax math verification.</a:t>
            </a:r>
          </a:p>
          <a:p>
            <a:pPr lvl="0"/>
            <a:r>
              <a:rPr b="1"/>
              <a:t>Demo Step 2: Unified Test Runner &amp; Artifact Generation:</a:t>
            </a:r>
          </a:p>
          <a:p>
            <a:pPr lvl="1"/>
            <a:r>
              <a:rPr/>
              <a:t>Command: </a:t>
            </a:r>
            <a:r>
              <a:rPr>
                <a:latin typeface="Courier"/>
              </a:rPr>
              <a:t>python run_tests.py --suite all</a:t>
            </a:r>
          </a:p>
          <a:p>
            <a:pPr lvl="1"/>
            <a:r>
              <a:rPr i="1"/>
              <a:t>Action:</a:t>
            </a:r>
            <a:r>
              <a:rPr/>
              <a:t> Runs full Selenium and Robot Framework suites in background and compiles HTML reports.</a:t>
            </a:r>
          </a:p>
          <a:p>
            <a:pPr lvl="0"/>
            <a:r>
              <a:rPr b="1"/>
              <a:t>Demo Step 3: Interactive HTML Test Report Inspection:</a:t>
            </a:r>
          </a:p>
          <a:p>
            <a:pPr lvl="1"/>
            <a:r>
              <a:rPr/>
              <a:t>Open </a:t>
            </a:r>
            <a:r>
              <a:rPr>
                <a:latin typeface="Courier"/>
              </a:rPr>
              <a:t>reports/selenium_test_report.html</a:t>
            </a:r>
            <a:r>
              <a:rPr/>
              <a:t> &amp; </a:t>
            </a:r>
            <a:r>
              <a:rPr>
                <a:latin typeface="Courier"/>
              </a:rPr>
              <a:t>reports/robot_logs/report.html</a:t>
            </a:r>
            <a:r>
              <a:rPr/>
              <a:t> in Chrome browser.</a:t>
            </a:r>
          </a:p>
          <a:p>
            <a:pPr lvl="1"/>
            <a:r>
              <a:rPr i="1"/>
              <a:t>Action:</a:t>
            </a:r>
            <a:r>
              <a:rPr/>
              <a:t> Showcase 100% Pass Rate, visual pie charts, test duration breakdown, and metadata.</a:t>
            </a:r>
          </a:p>
          <a:p>
            <a:pPr lvl="0"/>
            <a:r>
              <a:rPr b="1"/>
              <a:t>Speaker Notes:</a:t>
            </a:r>
            <a:r>
              <a:rPr/>
              <a:t> “Now we will perform our mandatory live demo. First, we will run our tests in headed mode so you can watch Chrome perform actions live. Then we will show our unified runner and interactive HTML test reports.”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Project ROI, Value Delivered &amp; Recommendations</a:t>
            </a:r>
          </a:p>
        </p:txBody>
      </p:sp>
      <p:sp>
        <p:nvSpPr>
          <p:cNvPr id="3" name="Content Placeholder 2"/>
          <p:cNvSpPr>
            <a:spLocks noGrp="1"/>
          </p:cNvSpPr>
          <p:nvPr>
            <p:ph idx="1"/>
          </p:nvPr>
        </p:nvSpPr>
        <p:spPr/>
        <p:txBody>
          <a:bodyPr/>
          <a:lstStyle/>
          <a:p>
            <a:pPr lvl="0"/>
            <a:r>
              <a:rPr b="1"/>
              <a:t>Business Value &amp; ROI Delivered:</a:t>
            </a:r>
          </a:p>
          <a:p>
            <a:pPr lvl="1"/>
            <a:r>
              <a:rPr b="1"/>
              <a:t>89.8% Time Savings:</a:t>
            </a:r>
            <a:r>
              <a:rPr/>
              <a:t> Regression testing reduced from 18 mins to 110 seconds.</a:t>
            </a:r>
          </a:p>
          <a:p>
            <a:pPr lvl="1"/>
            <a:r>
              <a:rPr b="1"/>
              <a:t>100% Coverage &amp; Consistency:</a:t>
            </a:r>
            <a:r>
              <a:rPr/>
              <a:t> Eliminated human error across all 14 functional requirements.</a:t>
            </a:r>
          </a:p>
          <a:p>
            <a:pPr lvl="1"/>
            <a:r>
              <a:rPr b="1"/>
              <a:t>Automated Defect Guardrails:</a:t>
            </a:r>
            <a:r>
              <a:rPr/>
              <a:t> Continuous regression guardrails for Phase 2 defects (D-01 and D-02).</a:t>
            </a:r>
          </a:p>
          <a:p>
            <a:pPr lvl="0"/>
            <a:r>
              <a:rPr b="1"/>
              <a:t>Future Recommendations:</a:t>
            </a:r>
          </a:p>
          <a:p>
            <a:pPr lvl="1"/>
            <a:r>
              <a:rPr i="1"/>
              <a:t>Cross-Browser Grid:</a:t>
            </a:r>
            <a:r>
              <a:rPr/>
              <a:t> Expand execution to Firefox, Edge, and Safari using Docker Selenium Grid.</a:t>
            </a:r>
          </a:p>
          <a:p>
            <a:pPr lvl="1"/>
            <a:r>
              <a:rPr i="1"/>
              <a:t>Performance Testing:</a:t>
            </a:r>
            <a:r>
              <a:rPr/>
              <a:t> Combine UI automation with load testing using Locust or JMeter.</a:t>
            </a:r>
          </a:p>
          <a:p>
            <a:pPr lvl="1"/>
            <a:r>
              <a:rPr i="1"/>
              <a:t>Form Validation Fixes:</a:t>
            </a:r>
            <a:r>
              <a:rPr/>
              <a:t> Recommend backend validation for D-01 (Empty Cart Block) and D-02 (Input Format Constraints).</a:t>
            </a:r>
          </a:p>
          <a:p>
            <a:pPr lvl="0"/>
            <a:r>
              <a:rPr b="1"/>
              <a:t>Speaker Notes:</a:t>
            </a:r>
            <a:r>
              <a:rPr/>
              <a:t> “The ROI of our automation is clear: 9.8x faster regression testing, 100% repeatability, and immediate CI/CD feedback. We recommend SauceDemo developers fix defects D-01 and D-02 in upcoming releases.”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Conclusion &amp; Q&amp;A</a:t>
            </a:r>
          </a:p>
        </p:txBody>
      </p:sp>
      <p:sp>
        <p:nvSpPr>
          <p:cNvPr id="3" name="Content Placeholder 2"/>
          <p:cNvSpPr>
            <a:spLocks noGrp="1"/>
          </p:cNvSpPr>
          <p:nvPr>
            <p:ph idx="1"/>
          </p:nvPr>
        </p:nvSpPr>
        <p:spPr/>
        <p:txBody>
          <a:bodyPr/>
          <a:lstStyle/>
          <a:p>
            <a:pPr lvl="0"/>
            <a:r>
              <a:rPr b="1"/>
              <a:t>Summary:</a:t>
            </a:r>
          </a:p>
          <a:p>
            <a:pPr lvl="1"/>
            <a:r>
              <a:rPr/>
              <a:t>Successfully synthesized Phase 1 requirements, Phase 2 manual testing, and Phase 3 automation.</a:t>
            </a:r>
          </a:p>
          <a:p>
            <a:pPr lvl="1"/>
            <a:r>
              <a:rPr/>
              <a:t>Built a 100% passing Page Object Model framework in Selenium and Robot Framework.</a:t>
            </a:r>
          </a:p>
          <a:p>
            <a:pPr lvl="1"/>
            <a:r>
              <a:rPr/>
              <a:t>Fully integrated CI/CD pipelines with interactive visual HTML reporting.</a:t>
            </a:r>
          </a:p>
          <a:p>
            <a:pPr lvl="0"/>
            <a:r>
              <a:rPr b="1"/>
              <a:t>Academic &amp; Technical References:</a:t>
            </a:r>
          </a:p>
          <a:p>
            <a:pPr lvl="1"/>
            <a:r>
              <a:rPr/>
              <a:t>CST8513 Quality Assurance &amp; Testing Syllabus, Prof. Sharmista Datta, Algonquin College.</a:t>
            </a:r>
          </a:p>
          <a:p>
            <a:pPr lvl="1"/>
            <a:r>
              <a:rPr/>
              <a:t>Selenium WebDriver Documentation (https://www.selenium.dev/documentation/)</a:t>
            </a:r>
          </a:p>
          <a:p>
            <a:pPr lvl="1"/>
            <a:r>
              <a:rPr/>
              <a:t>Pytest &amp; Robot Framework User Guides (https://docs.pytest.org/, https://robotframework.org/)</a:t>
            </a:r>
          </a:p>
          <a:p>
            <a:pPr lvl="0"/>
            <a:r>
              <a:rPr b="1"/>
              <a:t>GitHub Project Repository:</a:t>
            </a:r>
            <a:r>
              <a:rPr/>
              <a:t> https://github.com/MeetAhalpara/QA-Test-Automation</a:t>
            </a:r>
          </a:p>
          <a:p>
            <a:pPr lvl="0"/>
            <a:r>
              <a:rPr b="1"/>
              <a:t>Questions &amp; Answers:</a:t>
            </a:r>
            <a:r>
              <a:rPr/>
              <a:t> Thank you! We welcome any questions.</a:t>
            </a:r>
          </a:p>
          <a:p>
            <a:pPr lvl="0"/>
            <a:r>
              <a:rPr b="1"/>
              <a:t>Speaker Notes:</a:t>
            </a:r>
            <a:r>
              <a:rPr/>
              <a:t> “Thank you Professor Datta and class for your attention. All project code, documents, and reports are published on our GitHub repository. We are now happy to answer any 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2026-08-13T00:01:47Z</dcterms:created>
  <dcterms:modified xsi:type="dcterms:W3CDTF">2026-08-13T00:01:47Z</dcterms:modified>
</cp:coreProperties>
</file>

<file path=docProps/custom.xml><?xml version="1.0" encoding="utf-8"?>
<Properties xmlns="http://schemas.openxmlformats.org/officeDocument/2006/custom-properties" xmlns:vt="http://schemas.openxmlformats.org/officeDocument/2006/docPropsVTypes"/>
</file>